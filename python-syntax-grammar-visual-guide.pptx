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3515edfdad4288" /><Relationship Type="http://schemas.openxmlformats.org/officeDocument/2006/relationships/extended-properties" Target="/docProps/app.xml" Id="Racc4236ebc2a44d0" /><Relationship Type="http://schemas.openxmlformats.org/officeDocument/2006/relationships/officeDocument" Target="/ppt/presentation.xml" Id="R12df4c39b5ca4e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816d0329b34f14"/>
  </p:sldMasterIdLst>
  <p:notesMasterIdLst>
    <p:notesMasterId xmlns:r="http://schemas.openxmlformats.org/officeDocument/2006/relationships" r:id="R27ec21d28d6745a0"/>
  </p:notesMasterIdLst>
  <p:sldIdLst>
    <p:sldId xmlns:r="http://schemas.openxmlformats.org/officeDocument/2006/relationships" id="256" r:id="R36dca8cfa6a948c9"/>
    <p:sldId xmlns:r="http://schemas.openxmlformats.org/officeDocument/2006/relationships" id="257" r:id="R619101cf31844196"/>
    <p:sldId xmlns:r="http://schemas.openxmlformats.org/officeDocument/2006/relationships" id="258" r:id="R9308458caf694a48"/>
    <p:sldId xmlns:r="http://schemas.openxmlformats.org/officeDocument/2006/relationships" id="259" r:id="Ra915c9acb66b4ce4"/>
    <p:sldId xmlns:r="http://schemas.openxmlformats.org/officeDocument/2006/relationships" id="260" r:id="Rba6ee987cb464334"/>
    <p:sldId xmlns:r="http://schemas.openxmlformats.org/officeDocument/2006/relationships" id="261" r:id="R406a0be73b8e4fb5"/>
    <p:sldId xmlns:r="http://schemas.openxmlformats.org/officeDocument/2006/relationships" id="262" r:id="R7422b39bef284cf9"/>
    <p:sldId xmlns:r="http://schemas.openxmlformats.org/officeDocument/2006/relationships" id="263" r:id="Rf1d196af7a124f36"/>
    <p:sldId xmlns:r="http://schemas.openxmlformats.org/officeDocument/2006/relationships" id="264" r:id="R99f26cb97e53450b"/>
    <p:sldId xmlns:r="http://schemas.openxmlformats.org/officeDocument/2006/relationships" id="265" r:id="Rcf848db064fb4046"/>
    <p:sldId xmlns:r="http://schemas.openxmlformats.org/officeDocument/2006/relationships" id="266" r:id="R31da17a2827f4147"/>
    <p:sldId xmlns:r="http://schemas.openxmlformats.org/officeDocument/2006/relationships" id="267" r:id="R78344dcf5dc64857"/>
    <p:sldId xmlns:r="http://schemas.openxmlformats.org/officeDocument/2006/relationships" id="268" r:id="Rfdcad8a3dbde4237"/>
    <p:sldId xmlns:r="http://schemas.openxmlformats.org/officeDocument/2006/relationships" id="269" r:id="R9b8b488b58044014"/>
    <p:sldId xmlns:r="http://schemas.openxmlformats.org/officeDocument/2006/relationships" id="270" r:id="R487a72c616314dd8"/>
    <p:sldId xmlns:r="http://schemas.openxmlformats.org/officeDocument/2006/relationships" id="271" r:id="Ra6e354ee7e96472a"/>
    <p:sldId xmlns:r="http://schemas.openxmlformats.org/officeDocument/2006/relationships" id="272" r:id="Rec4dab3279634bb7"/>
    <p:sldId xmlns:r="http://schemas.openxmlformats.org/officeDocument/2006/relationships" id="273" r:id="R5d144c79786d4dc4"/>
    <p:sldId xmlns:r="http://schemas.openxmlformats.org/officeDocument/2006/relationships" id="274" r:id="R2a4a1c41829a4325"/>
    <p:sldId xmlns:r="http://schemas.openxmlformats.org/officeDocument/2006/relationships" id="275" r:id="R5abcae4c5ec14304"/>
    <p:sldId xmlns:r="http://schemas.openxmlformats.org/officeDocument/2006/relationships" id="276" r:id="Rb93d1323c0594c1b"/>
    <p:sldId xmlns:r="http://schemas.openxmlformats.org/officeDocument/2006/relationships" id="277" r:id="Rbe51f22f3c484860"/>
    <p:sldId xmlns:r="http://schemas.openxmlformats.org/officeDocument/2006/relationships" id="278" r:id="R1eb8ce01b91e4dcd"/>
    <p:sldId xmlns:r="http://schemas.openxmlformats.org/officeDocument/2006/relationships" id="279" r:id="Rf265330160e949bb"/>
    <p:sldId xmlns:r="http://schemas.openxmlformats.org/officeDocument/2006/relationships" id="280" r:id="R996fe79901af458e"/>
    <p:sldId xmlns:r="http://schemas.openxmlformats.org/officeDocument/2006/relationships" id="281" r:id="R3c263a50487e4489"/>
    <p:sldId xmlns:r="http://schemas.openxmlformats.org/officeDocument/2006/relationships" id="282" r:id="Reb1d93501bf94c40"/>
    <p:sldId xmlns:r="http://schemas.openxmlformats.org/officeDocument/2006/relationships" id="283" r:id="R448985faeb904752"/>
    <p:sldId xmlns:r="http://schemas.openxmlformats.org/officeDocument/2006/relationships" id="284" r:id="R8b2b944290ec4c1e"/>
    <p:sldId xmlns:r="http://schemas.openxmlformats.org/officeDocument/2006/relationships" id="285" r:id="Raf36e91d507d4b35"/>
    <p:sldId xmlns:r="http://schemas.openxmlformats.org/officeDocument/2006/relationships" id="286" r:id="Rb08bada27fe64c0b"/>
    <p:sldId xmlns:r="http://schemas.openxmlformats.org/officeDocument/2006/relationships" id="287" r:id="Rc3ec41c3d6214da0"/>
    <p:sldId xmlns:r="http://schemas.openxmlformats.org/officeDocument/2006/relationships" id="288" r:id="Rd344ad3894c54a73"/>
    <p:sldId xmlns:r="http://schemas.openxmlformats.org/officeDocument/2006/relationships" id="289" r:id="Rdc492926e7ae457a"/>
    <p:sldId xmlns:r="http://schemas.openxmlformats.org/officeDocument/2006/relationships" id="290" r:id="Rbfe6fc99b9824ef5"/>
    <p:sldId xmlns:r="http://schemas.openxmlformats.org/officeDocument/2006/relationships" id="291" r:id="R9f3a81eb33dd45bd"/>
    <p:sldId xmlns:r="http://schemas.openxmlformats.org/officeDocument/2006/relationships" id="292" r:id="R3d9ffa4b9bb349a4"/>
    <p:sldId xmlns:r="http://schemas.openxmlformats.org/officeDocument/2006/relationships" id="293" r:id="R7dda7fe5c1db4c59"/>
    <p:sldId xmlns:r="http://schemas.openxmlformats.org/officeDocument/2006/relationships" id="294" r:id="R3e23fe8ab35245ac"/>
    <p:sldId xmlns:r="http://schemas.openxmlformats.org/officeDocument/2006/relationships" id="295" r:id="R2761c5e81109409e"/>
    <p:sldId xmlns:r="http://schemas.openxmlformats.org/officeDocument/2006/relationships" id="296" r:id="R5924ca58d5a14604"/>
    <p:sldId xmlns:r="http://schemas.openxmlformats.org/officeDocument/2006/relationships" id="297" r:id="R3be5b79295774376"/>
    <p:sldId xmlns:r="http://schemas.openxmlformats.org/officeDocument/2006/relationships" id="298" r:id="R0089cc7a39df48a2"/>
    <p:sldId xmlns:r="http://schemas.openxmlformats.org/officeDocument/2006/relationships" id="299" r:id="Rd8f4ee4ab0d34e0f"/>
    <p:sldId xmlns:r="http://schemas.openxmlformats.org/officeDocument/2006/relationships" id="300" r:id="R6b047555bc684fbc"/>
    <p:sldId xmlns:r="http://schemas.openxmlformats.org/officeDocument/2006/relationships" id="301" r:id="R68cb9ea29bcf4a72"/>
    <p:sldId xmlns:r="http://schemas.openxmlformats.org/officeDocument/2006/relationships" id="302" r:id="R1273ba4493574908"/>
    <p:sldId xmlns:r="http://schemas.openxmlformats.org/officeDocument/2006/relationships" id="303" r:id="Rf55d0c2ac5bc41a9"/>
    <p:sldId xmlns:r="http://schemas.openxmlformats.org/officeDocument/2006/relationships" id="304" r:id="R394f4ae7b0ee45e0"/>
    <p:sldId xmlns:r="http://schemas.openxmlformats.org/officeDocument/2006/relationships" id="305" r:id="R96346f232694493e"/>
    <p:sldId xmlns:r="http://schemas.openxmlformats.org/officeDocument/2006/relationships" id="306" r:id="R6018bc2d84454642"/>
    <p:sldId xmlns:r="http://schemas.openxmlformats.org/officeDocument/2006/relationships" id="307" r:id="R3060a3fb6bb944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020e7d6d654246" /><Relationship Type="http://schemas.openxmlformats.org/officeDocument/2006/relationships/slideMaster" Target="/ppt/slideMasters/slideMaster1.xml" Id="R6c816d0329b34f14" /><Relationship Type="http://schemas.openxmlformats.org/officeDocument/2006/relationships/notesMaster" Target="/ppt/notesMasters/notesMaster1.xml" Id="R27ec21d28d6745a0" /><Relationship Type="http://schemas.openxmlformats.org/officeDocument/2006/relationships/presProps" Target="/ppt/presProps.xml" Id="R64fbe320e3a9401d" /><Relationship Type="http://schemas.openxmlformats.org/officeDocument/2006/relationships/tableStyles" Target="/ppt/tableStyles.xml" Id="R9ff7c91a0d464e9c" /><Relationship Type="http://schemas.openxmlformats.org/officeDocument/2006/relationships/slide" Target="/ppt/slides/slide1.xml" Id="R36dca8cfa6a948c9" /><Relationship Type="http://schemas.openxmlformats.org/officeDocument/2006/relationships/slide" Target="/ppt/slides/slide2.xml" Id="R619101cf31844196" /><Relationship Type="http://schemas.openxmlformats.org/officeDocument/2006/relationships/slide" Target="/ppt/slides/slide3.xml" Id="R9308458caf694a48" /><Relationship Type="http://schemas.openxmlformats.org/officeDocument/2006/relationships/slide" Target="/ppt/slides/slide4.xml" Id="Ra915c9acb66b4ce4" /><Relationship Type="http://schemas.openxmlformats.org/officeDocument/2006/relationships/slide" Target="/ppt/slides/slide5.xml" Id="Rba6ee987cb464334" /><Relationship Type="http://schemas.openxmlformats.org/officeDocument/2006/relationships/slide" Target="/ppt/slides/slide6.xml" Id="R406a0be73b8e4fb5" /><Relationship Type="http://schemas.openxmlformats.org/officeDocument/2006/relationships/slide" Target="/ppt/slides/slide7.xml" Id="R7422b39bef284cf9" /><Relationship Type="http://schemas.openxmlformats.org/officeDocument/2006/relationships/slide" Target="/ppt/slides/slide8.xml" Id="Rf1d196af7a124f36" /><Relationship Type="http://schemas.openxmlformats.org/officeDocument/2006/relationships/slide" Target="/ppt/slides/slide9.xml" Id="R99f26cb97e53450b" /><Relationship Type="http://schemas.openxmlformats.org/officeDocument/2006/relationships/slide" Target="/ppt/slides/slide10.xml" Id="Rcf848db064fb4046" /><Relationship Type="http://schemas.openxmlformats.org/officeDocument/2006/relationships/slide" Target="/ppt/slides/slide11.xml" Id="R31da17a2827f4147" /><Relationship Type="http://schemas.openxmlformats.org/officeDocument/2006/relationships/slide" Target="/ppt/slides/slide12.xml" Id="R78344dcf5dc64857" /><Relationship Type="http://schemas.openxmlformats.org/officeDocument/2006/relationships/slide" Target="/ppt/slides/slide13.xml" Id="Rfdcad8a3dbde4237" /><Relationship Type="http://schemas.openxmlformats.org/officeDocument/2006/relationships/slide" Target="/ppt/slides/slide14.xml" Id="R9b8b488b58044014" /><Relationship Type="http://schemas.openxmlformats.org/officeDocument/2006/relationships/slide" Target="/ppt/slides/slide15.xml" Id="R487a72c616314dd8" /><Relationship Type="http://schemas.openxmlformats.org/officeDocument/2006/relationships/slide" Target="/ppt/slides/slide16.xml" Id="Ra6e354ee7e96472a" /><Relationship Type="http://schemas.openxmlformats.org/officeDocument/2006/relationships/slide" Target="/ppt/slides/slide17.xml" Id="Rec4dab3279634bb7" /><Relationship Type="http://schemas.openxmlformats.org/officeDocument/2006/relationships/slide" Target="/ppt/slides/slide18.xml" Id="R5d144c79786d4dc4" /><Relationship Type="http://schemas.openxmlformats.org/officeDocument/2006/relationships/slide" Target="/ppt/slides/slide19.xml" Id="R2a4a1c41829a4325" /><Relationship Type="http://schemas.openxmlformats.org/officeDocument/2006/relationships/slide" Target="/ppt/slides/slide20.xml" Id="R5abcae4c5ec14304" /><Relationship Type="http://schemas.openxmlformats.org/officeDocument/2006/relationships/slide" Target="/ppt/slides/slide21.xml" Id="Rb93d1323c0594c1b" /><Relationship Type="http://schemas.openxmlformats.org/officeDocument/2006/relationships/slide" Target="/ppt/slides/slide22.xml" Id="Rbe51f22f3c484860" /><Relationship Type="http://schemas.openxmlformats.org/officeDocument/2006/relationships/slide" Target="/ppt/slides/slide23.xml" Id="R1eb8ce01b91e4dcd" /><Relationship Type="http://schemas.openxmlformats.org/officeDocument/2006/relationships/slide" Target="/ppt/slides/slide24.xml" Id="Rf265330160e949bb" /><Relationship Type="http://schemas.openxmlformats.org/officeDocument/2006/relationships/slide" Target="/ppt/slides/slide25.xml" Id="R996fe79901af458e" /><Relationship Type="http://schemas.openxmlformats.org/officeDocument/2006/relationships/slide" Target="/ppt/slides/slide26.xml" Id="R3c263a50487e4489" /><Relationship Type="http://schemas.openxmlformats.org/officeDocument/2006/relationships/slide" Target="/ppt/slides/slide27.xml" Id="Reb1d93501bf94c40" /><Relationship Type="http://schemas.openxmlformats.org/officeDocument/2006/relationships/slide" Target="/ppt/slides/slide28.xml" Id="R448985faeb904752" /><Relationship Type="http://schemas.openxmlformats.org/officeDocument/2006/relationships/slide" Target="/ppt/slides/slide29.xml" Id="R8b2b944290ec4c1e" /><Relationship Type="http://schemas.openxmlformats.org/officeDocument/2006/relationships/slide" Target="/ppt/slides/slide30.xml" Id="Raf36e91d507d4b35" /><Relationship Type="http://schemas.openxmlformats.org/officeDocument/2006/relationships/slide" Target="/ppt/slides/slide31.xml" Id="Rb08bada27fe64c0b" /><Relationship Type="http://schemas.openxmlformats.org/officeDocument/2006/relationships/slide" Target="/ppt/slides/slide32.xml" Id="Rc3ec41c3d6214da0" /><Relationship Type="http://schemas.openxmlformats.org/officeDocument/2006/relationships/slide" Target="/ppt/slides/slide33.xml" Id="Rd344ad3894c54a73" /><Relationship Type="http://schemas.openxmlformats.org/officeDocument/2006/relationships/slide" Target="/ppt/slides/slide34.xml" Id="Rdc492926e7ae457a" /><Relationship Type="http://schemas.openxmlformats.org/officeDocument/2006/relationships/slide" Target="/ppt/slides/slide35.xml" Id="Rbfe6fc99b9824ef5" /><Relationship Type="http://schemas.openxmlformats.org/officeDocument/2006/relationships/slide" Target="/ppt/slides/slide36.xml" Id="R9f3a81eb33dd45bd" /><Relationship Type="http://schemas.openxmlformats.org/officeDocument/2006/relationships/slide" Target="/ppt/slides/slide37.xml" Id="R3d9ffa4b9bb349a4" /><Relationship Type="http://schemas.openxmlformats.org/officeDocument/2006/relationships/slide" Target="/ppt/slides/slide38.xml" Id="R7dda7fe5c1db4c59" /><Relationship Type="http://schemas.openxmlformats.org/officeDocument/2006/relationships/slide" Target="/ppt/slides/slide39.xml" Id="R3e23fe8ab35245ac" /><Relationship Type="http://schemas.openxmlformats.org/officeDocument/2006/relationships/slide" Target="/ppt/slides/slide40.xml" Id="R2761c5e81109409e" /><Relationship Type="http://schemas.openxmlformats.org/officeDocument/2006/relationships/slide" Target="/ppt/slides/slide41.xml" Id="R5924ca58d5a14604" /><Relationship Type="http://schemas.openxmlformats.org/officeDocument/2006/relationships/slide" Target="/ppt/slides/slide42.xml" Id="R3be5b79295774376" /><Relationship Type="http://schemas.openxmlformats.org/officeDocument/2006/relationships/slide" Target="/ppt/slides/slide43.xml" Id="R0089cc7a39df48a2" /><Relationship Type="http://schemas.openxmlformats.org/officeDocument/2006/relationships/slide" Target="/ppt/slides/slide44.xml" Id="Rd8f4ee4ab0d34e0f" /><Relationship Type="http://schemas.openxmlformats.org/officeDocument/2006/relationships/slide" Target="/ppt/slides/slide45.xml" Id="R6b047555bc684fbc" /><Relationship Type="http://schemas.openxmlformats.org/officeDocument/2006/relationships/slide" Target="/ppt/slides/slide46.xml" Id="R68cb9ea29bcf4a72" /><Relationship Type="http://schemas.openxmlformats.org/officeDocument/2006/relationships/slide" Target="/ppt/slides/slide47.xml" Id="R1273ba4493574908" /><Relationship Type="http://schemas.openxmlformats.org/officeDocument/2006/relationships/slide" Target="/ppt/slides/slide48.xml" Id="Rf55d0c2ac5bc41a9" /><Relationship Type="http://schemas.openxmlformats.org/officeDocument/2006/relationships/slide" Target="/ppt/slides/slide49.xml" Id="R394f4ae7b0ee45e0" /><Relationship Type="http://schemas.openxmlformats.org/officeDocument/2006/relationships/slide" Target="/ppt/slides/slide50.xml" Id="R96346f232694493e" /><Relationship Type="http://schemas.openxmlformats.org/officeDocument/2006/relationships/slide" Target="/ppt/slides/slide51.xml" Id="R6018bc2d84454642" /><Relationship Type="http://schemas.openxmlformats.org/officeDocument/2006/relationships/slide" Target="/ppt/slides/slide52.xml" Id="R3060a3fb6bb944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49a13a5fda4e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b02365090b451a" /><Relationship Type="http://schemas.openxmlformats.org/officeDocument/2006/relationships/notesMaster" Target="/ppt/notesMasters/notesMaster1.xml" Id="Rbd87f6dae4ca41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40eefee3104b62" /><Relationship Type="http://schemas.openxmlformats.org/officeDocument/2006/relationships/notesMaster" Target="/ppt/notesMasters/notesMaster1.xml" Id="Rbce486949e2749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421ed5de5d4d9d" /><Relationship Type="http://schemas.openxmlformats.org/officeDocument/2006/relationships/notesMaster" Target="/ppt/notesMasters/notesMaster1.xml" Id="R9e3ce0f270ba43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02c6502dbc4845" /><Relationship Type="http://schemas.openxmlformats.org/officeDocument/2006/relationships/notesMaster" Target="/ppt/notesMasters/notesMaster1.xml" Id="R3dbc2692b1ba45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7d014620d04af2" /><Relationship Type="http://schemas.openxmlformats.org/officeDocument/2006/relationships/notesMaster" Target="/ppt/notesMasters/notesMaster1.xml" Id="R5e32dd38b5d348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7ba210d3b247da" /><Relationship Type="http://schemas.openxmlformats.org/officeDocument/2006/relationships/notesMaster" Target="/ppt/notesMasters/notesMaster1.xml" Id="R61670e39273c4b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91bfd52bc6481a" /><Relationship Type="http://schemas.openxmlformats.org/officeDocument/2006/relationships/notesMaster" Target="/ppt/notesMasters/notesMaster1.xml" Id="R465dac35db6a47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c77cfd6fdf4ee9" /><Relationship Type="http://schemas.openxmlformats.org/officeDocument/2006/relationships/notesMaster" Target="/ppt/notesMasters/notesMaster1.xml" Id="Rc562dffe629049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94a2a8135f4573" /><Relationship Type="http://schemas.openxmlformats.org/officeDocument/2006/relationships/notesMaster" Target="/ppt/notesMasters/notesMaster1.xml" Id="Re79daec672604c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fdacffba9d4667" /><Relationship Type="http://schemas.openxmlformats.org/officeDocument/2006/relationships/notesMaster" Target="/ppt/notesMasters/notesMaster1.xml" Id="R6abc97bb5a0a4a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6d62b27f7d4404" /><Relationship Type="http://schemas.openxmlformats.org/officeDocument/2006/relationships/notesMaster" Target="/ppt/notesMasters/notesMaster1.xml" Id="Rb2658f025f3a46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1e69a4ce8d4ed7" /><Relationship Type="http://schemas.openxmlformats.org/officeDocument/2006/relationships/notesMaster" Target="/ppt/notesMasters/notesMaster1.xml" Id="Rb42d62c63be648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1b7ad1fca3441e" /><Relationship Type="http://schemas.openxmlformats.org/officeDocument/2006/relationships/notesMaster" Target="/ppt/notesMasters/notesMaster1.xml" Id="Rdf6ffaf4b7ed4e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6b6b9ec9e44253" /><Relationship Type="http://schemas.openxmlformats.org/officeDocument/2006/relationships/notesMaster" Target="/ppt/notesMasters/notesMaster1.xml" Id="R173acd3c7d7745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b5a76d77d94a12" /><Relationship Type="http://schemas.openxmlformats.org/officeDocument/2006/relationships/notesMaster" Target="/ppt/notesMasters/notesMaster1.xml" Id="R31c5ad2db89842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4600270d1f44df" /><Relationship Type="http://schemas.openxmlformats.org/officeDocument/2006/relationships/notesMaster" Target="/ppt/notesMasters/notesMaster1.xml" Id="R389bf02f0da64c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e4650363ea4c26" /><Relationship Type="http://schemas.openxmlformats.org/officeDocument/2006/relationships/notesMaster" Target="/ppt/notesMasters/notesMaster1.xml" Id="R08ede7c0b26d4f3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2e717697f24e08" /><Relationship Type="http://schemas.openxmlformats.org/officeDocument/2006/relationships/notesMaster" Target="/ppt/notesMasters/notesMaster1.xml" Id="R72b8b19713164d0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ca1701c90f44077" /><Relationship Type="http://schemas.openxmlformats.org/officeDocument/2006/relationships/notesMaster" Target="/ppt/notesMasters/notesMaster1.xml" Id="Rd538c3cdd6024e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8f9bf780df4a21" /><Relationship Type="http://schemas.openxmlformats.org/officeDocument/2006/relationships/notesMaster" Target="/ppt/notesMasters/notesMaster1.xml" Id="Rc773c13ea6514ff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825e38f949343f9" /><Relationship Type="http://schemas.openxmlformats.org/officeDocument/2006/relationships/notesMaster" Target="/ppt/notesMasters/notesMaster1.xml" Id="R277ae05986974d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e7f697a8514501" /><Relationship Type="http://schemas.openxmlformats.org/officeDocument/2006/relationships/notesMaster" Target="/ppt/notesMasters/notesMaster1.xml" Id="Rc2c48965174c458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ad0d4ae8052491b" /><Relationship Type="http://schemas.openxmlformats.org/officeDocument/2006/relationships/notesMaster" Target="/ppt/notesMasters/notesMaster1.xml" Id="R56b721ef1ab5491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5a762f5f4194b9d" /><Relationship Type="http://schemas.openxmlformats.org/officeDocument/2006/relationships/notesMaster" Target="/ppt/notesMasters/notesMaster1.xml" Id="R7e3e6502b389470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abf236feb964f86" /><Relationship Type="http://schemas.openxmlformats.org/officeDocument/2006/relationships/notesMaster" Target="/ppt/notesMasters/notesMaster1.xml" Id="R60830a3ecdff411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5f1cb1c8f7b4135" /><Relationship Type="http://schemas.openxmlformats.org/officeDocument/2006/relationships/notesMaster" Target="/ppt/notesMasters/notesMaster1.xml" Id="R11202c640ad9456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7a0bf8017ab4b09" /><Relationship Type="http://schemas.openxmlformats.org/officeDocument/2006/relationships/notesMaster" Target="/ppt/notesMasters/notesMaster1.xml" Id="R86467124c255466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e818e7213684853" /><Relationship Type="http://schemas.openxmlformats.org/officeDocument/2006/relationships/notesMaster" Target="/ppt/notesMasters/notesMaster1.xml" Id="Raebfbd61e4e0458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a7944fd626248d8" /><Relationship Type="http://schemas.openxmlformats.org/officeDocument/2006/relationships/notesMaster" Target="/ppt/notesMasters/notesMaster1.xml" Id="R9125fe5c47ca463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4ac4270a9df4bde" /><Relationship Type="http://schemas.openxmlformats.org/officeDocument/2006/relationships/notesMaster" Target="/ppt/notesMasters/notesMaster1.xml" Id="Rdebd28b0442147f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35aa163096e40c5" /><Relationship Type="http://schemas.openxmlformats.org/officeDocument/2006/relationships/notesMaster" Target="/ppt/notesMasters/notesMaster1.xml" Id="R8254d52b708b430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8354d07d940496a" /><Relationship Type="http://schemas.openxmlformats.org/officeDocument/2006/relationships/notesMaster" Target="/ppt/notesMasters/notesMaster1.xml" Id="R845fcd9fe898454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64f2f3dda6a4c26" /><Relationship Type="http://schemas.openxmlformats.org/officeDocument/2006/relationships/notesMaster" Target="/ppt/notesMasters/notesMaster1.xml" Id="Ree9ac4e28dc443b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95447f6edc94fd0" /><Relationship Type="http://schemas.openxmlformats.org/officeDocument/2006/relationships/notesMaster" Target="/ppt/notesMasters/notesMaster1.xml" Id="R1c9ebcba6236406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cca7663da664e74" /><Relationship Type="http://schemas.openxmlformats.org/officeDocument/2006/relationships/notesMaster" Target="/ppt/notesMasters/notesMaster1.xml" Id="R59338b529c8141e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1fc70e571584a19" /><Relationship Type="http://schemas.openxmlformats.org/officeDocument/2006/relationships/notesMaster" Target="/ppt/notesMasters/notesMaster1.xml" Id="R4b63008f198a45e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da6622cfdb24141" /><Relationship Type="http://schemas.openxmlformats.org/officeDocument/2006/relationships/notesMaster" Target="/ppt/notesMasters/notesMaster1.xml" Id="Ra2bb12e03d7b46e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455e6391b9f4183" /><Relationship Type="http://schemas.openxmlformats.org/officeDocument/2006/relationships/notesMaster" Target="/ppt/notesMasters/notesMaster1.xml" Id="Rfc4833622ea4476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ccc2457054d41ac" /><Relationship Type="http://schemas.openxmlformats.org/officeDocument/2006/relationships/notesMaster" Target="/ppt/notesMasters/notesMaster1.xml" Id="R62b1773bc69d4d2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93826969e9f4876" /><Relationship Type="http://schemas.openxmlformats.org/officeDocument/2006/relationships/notesMaster" Target="/ppt/notesMasters/notesMaster1.xml" Id="R33d84996f128477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f2768cc8c854ef7" /><Relationship Type="http://schemas.openxmlformats.org/officeDocument/2006/relationships/notesMaster" Target="/ppt/notesMasters/notesMaster1.xml" Id="R3c9fb47862094f4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4fd792818744196" /><Relationship Type="http://schemas.openxmlformats.org/officeDocument/2006/relationships/notesMaster" Target="/ppt/notesMasters/notesMaster1.xml" Id="R58d065fae6f64bb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444c5bae3f14ba3" /><Relationship Type="http://schemas.openxmlformats.org/officeDocument/2006/relationships/notesMaster" Target="/ppt/notesMasters/notesMaster1.xml" Id="R705cf7be475d463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57df53d044444eb" /><Relationship Type="http://schemas.openxmlformats.org/officeDocument/2006/relationships/notesMaster" Target="/ppt/notesMasters/notesMaster1.xml" Id="Red33fb4de12d481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c272c990ca94927" /><Relationship Type="http://schemas.openxmlformats.org/officeDocument/2006/relationships/notesMaster" Target="/ppt/notesMasters/notesMaster1.xml" Id="Rbb5ddc3c4deb4e4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55abaf3ae154add" /><Relationship Type="http://schemas.openxmlformats.org/officeDocument/2006/relationships/notesMaster" Target="/ppt/notesMasters/notesMaster1.xml" Id="Re19b818fd15f4ae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ecbd6a7347e4d9b" /><Relationship Type="http://schemas.openxmlformats.org/officeDocument/2006/relationships/notesMaster" Target="/ppt/notesMasters/notesMaster1.xml" Id="Rc5aa6149cdd64a0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37f68d1abb748a7" /><Relationship Type="http://schemas.openxmlformats.org/officeDocument/2006/relationships/notesMaster" Target="/ppt/notesMasters/notesMaster1.xml" Id="Rf1a052f6da96445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9be215d3e374e79" /><Relationship Type="http://schemas.openxmlformats.org/officeDocument/2006/relationships/notesMaster" Target="/ppt/notesMasters/notesMaster1.xml" Id="Re1e69a45a651467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4333b372cf2434b" /><Relationship Type="http://schemas.openxmlformats.org/officeDocument/2006/relationships/notesMaster" Target="/ppt/notesMasters/notesMaster1.xml" Id="Ra400fc1dc8354f9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cd8f142e98e4ed5" /><Relationship Type="http://schemas.openxmlformats.org/officeDocument/2006/relationships/notesMaster" Target="/ppt/notesMasters/notesMaster1.xml" Id="Re07e83a9af01444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e6ff2528bab4489" /><Relationship Type="http://schemas.openxmlformats.org/officeDocument/2006/relationships/notesMaster" Target="/ppt/notesMasters/notesMaster1.xml" Id="Rea9607fb61b744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idea that Python becomes easier when its visual structure is made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https://docs.python.org/3/reference/lexical_analysis.html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expectations: the deck teaches a reusable reading procedure, not isolated syntax trivia.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</a:t>
            </a:r>
          </a:p>
          <a:p xmlns:a="http://schemas.openxmlformats.org/drawingml/2006/main">
            <a:r>
              <a:t>- https://docs.python.org/3/reference/grammar.html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these three levels separate whenever an error feels mysterious.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  <a:p xmlns:a="http://schemas.openxmlformats.org/drawingml/2006/main">
            <a:r>
              <a:t>- https://docs.python.org/3/reference/compound_stmts.html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pipeline to explain why a malformed line can fail even if its intended meaning is obvious.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https://docs.python.org/3/reference/lexical_analysis.html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token colors are a teaching legend used throughout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https://docs.python.org/3/reference/lexical_analysis.html</a:t>
            </a:r>
          </a:p>
          <a:p xmlns:a="http://schemas.openxmlformats.org/drawingml/2006/main">
            <a:r>
              <a:t>- https://docs.python.org/3/reference/grammar.html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first grammar rule students should be able to say aloud.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Indentation tokens are generated from leading whitespace; inconsistent indentation is a syntax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https://docs.python.org/3/reference/lexical_analysis.html</a:t>
            </a:r>
          </a:p>
          <a:p xmlns:a="http://schemas.openxmlformats.org/drawingml/2006/main">
            <a:r>
              <a:t>- https://docs.python.org/3/reference/compound_stmts.html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physical lines from logical lines when explaining why the second example is legal.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https://docs.python.org/3/reference/lexical_analysis.html</a:t>
            </a:r>
          </a:p>
          <a:p xmlns:a="http://schemas.openxmlformats.org/drawingml/2006/main">
            <a:r>
              <a:t>- https://docs.python.org/3/reference/grammar.html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Keyword reservation and identifier rules are lexical facts; naming style is a readability convention.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https://docs.python.org/3/reference/lexical_analysis.html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 Use the code fragment as the visual anchor.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table to separate the spelling of a literal from the type of the value it creates.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https://docs.python.org/3/reference/expressions.html</a:t>
            </a:r>
          </a:p>
          <a:p xmlns:a="http://schemas.openxmlformats.org/drawingml/2006/main">
            <a:r>
              <a:t>- https://docs.python.org/3/tutorial/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String prefixes and f-strings are lexical forms; the braces in an f-string contain an expression.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https://docs.python.org/3/reference/lexical_analysis.html</a:t>
            </a:r>
          </a:p>
          <a:p xmlns:a="http://schemas.openxmlformats.org/drawingml/2006/main">
            <a:r>
              <a:t>- https://docs.python.org/3/reference/grammar.html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language reference defines expressions separately from simple and compound statements.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https://docs.python.org/3/reference/expressions.html</a:t>
            </a:r>
          </a:p>
          <a:p xmlns:a="http://schemas.openxmlformats.org/drawingml/2006/main">
            <a:r>
              <a:t>- https://docs.python.org/3/reference/grammar.html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Operator categories and precedence are specified in the expressions reference and grammar.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https://docs.python.org/3/reference/expressions.html</a:t>
            </a:r>
          </a:p>
          <a:p xmlns:a="http://schemas.openxmlformats.org/drawingml/2006/main">
            <a:r>
              <a:t>- https://docs.python.org/3/reference/grammar.html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teaching order, not the entire precedence table; use parentheses to make intent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https://docs.python.org/3/reference/expressions.html</a:t>
            </a:r>
          </a:p>
          <a:p xmlns:a="http://schemas.openxmlformats.org/drawingml/2006/main">
            <a:r>
              <a:t>- https://docs.python.org/3/reference/grammar.html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Chained comparisons are grammar-level syntax with short-circuiting semantics.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https://docs.python.org/3/reference/expressions.html</a:t>
            </a:r>
          </a:p>
          <a:p xmlns:a="http://schemas.openxmlformats.org/drawingml/2006/main">
            <a:r>
              <a:t>- https://docs.python.org/3/reference/grammar.html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grammar shows the operator nesting; the evaluation behavior is documented in the expressions 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https://docs.python.org/3/reference/expressions.html</a:t>
            </a:r>
          </a:p>
          <a:p xmlns:a="http://schemas.openxmlformats.org/drawingml/2006/main">
            <a:r>
              <a:t>- https://docs.python.org/3/reference/grammar.html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Assignment is a family of simple statements; annotations are part of assignment grammar.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 targets and unpacking are represented in the assignment grammar.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rule is one of the most useful grammar rules for reading real Python.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Calls, positional arguments, keyword arguments, and unpacking are covered by the primary and arguments grammar.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Literal forms are specified in the grammar; mutability and behavior are semantic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 Use the code fragment as the visual anchor.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grammar's simple_stmt and compound_stmt split as the organizing map for the rest of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https://docs.python.org/3/reference/compound_stmts.html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 is a grammar nonterminal: either a newline plus INDENTed statements or a simple statement suite.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https://docs.python.org/3/reference/compound_stmts.html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if grammar is directly adapted from the official grammar specification.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https://docs.python.org/3/reference/compound_stmts.html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For-loop grammar and the optional else block are defined in the compound statement 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https://docs.python.org/3/reference/compound_stmts.html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separate a legal loop shape from the separate question of whether it terminates.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https://docs.python.org/3/reference/compound_stmts.html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Break, continue, and pass are simple_stmt alternatives in the grammar.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https://docs.python.org/3/reference/compound_stmts.html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List, set, dict, and generator comprehensions are expression forms in the grammar.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Try-statement alternatives, handler syntax, else, and finally are defined in the grammar.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https://docs.python.org/3/reference/compound_stmts.html</a:t>
            </a:r>
          </a:p>
          <a:p xmlns:a="http://schemas.openxmlformats.org/drawingml/2006/main">
            <a:r>
              <a:t>- https://docs.python.org/3/tutorial/errors.html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 grammar and the with_item form are specified in the compound statement 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https://docs.python.org/3/reference/compound_stmts.html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Import statement grammar and module binding behavior are covered by the grammar and tutorial.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https://docs.python.org/3/tutorial/modules.html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Match/case is a compound statement in the current Python grammar.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https://docs.python.org/3/reference/compound_stmts.html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 Use the code fragment as the visual anchor.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Function definition grammar and the distinction between defining and calling are central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https://docs.python.org/3/tutorial/controlflow.html#defining-functions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Parameter forms, slash, star, defaults, and annotations are specified in the grammar.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https://docs.python.org/3/tutorial/controlflow.html#defining-functions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statements and annotation syntax are grammar; type checking is a separate tool/runtime concern.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https://docs.python.org/3/tutorial/controlflow.html#defining-functions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behavior is semantic; global and nonlocal are simple statements in the grammar.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https://docs.python.org/3/tutorial/controlflow.html#defining-functions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Lambda grammar is an expression form; functions are first-class values in Python's data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Decorator syntax is part of function definition grammar; the conceptual rebinding is the semantic effect.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https://docs.python.org/3/tutorial/controlflow.html#defining-functions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Yield expression and yield-from are grammar forms; generator behavior is described in the language 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 Use the code fragment as the visual anchor.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https://docs.python.org/3/reference/expressions.html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 definition grammar and class-body behavior are covered by the grammar and class tutorial.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method binding semantically; the method definition itself follows function grammar.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https://docs.python.org/3/tutorial/classes.html</a:t>
            </a:r>
          </a:p>
          <a:p xmlns:a="http://schemas.openxmlformats.org/drawingml/2006/main">
            <a:r>
              <a:t>- https://docs.python.org/3/reference/grammar.html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 bases appear in the class definition header; method lookup and super are semantic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https://docs.python.org/3/tutorial/classes.html</a:t>
            </a:r>
          </a:p>
          <a:p xmlns:a="http://schemas.openxmlformats.org/drawingml/2006/main">
            <a:r>
              <a:t>- https://docs.python.org/3/reference/grammar.html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distinction to keep parser feedback separate from runtime exceptions and incorrect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https://docs.python.org/3/tutorial/errors.html</a:t>
            </a:r>
          </a:p>
          <a:p xmlns:a="http://schemas.openxmlformats.org/drawingml/2006/main">
            <a:r>
              <a:t>- https://docs.python.org/3/reference/grammar.html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Traceback interpretation is part of the practical debugging workflow; syntax errors are reported before runtime.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https://docs.python.org/3/tutorial/errors.html</a:t>
            </a:r>
          </a:p>
          <a:p xmlns:a="http://schemas.openxmlformats.org/drawingml/2006/main">
            <a:r>
              <a:t>- https://docs.python.org/3/reference/grammar.html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for active recall. Syntax repair is faster when students classify the fault before editing.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https://docs.python.org/3/reference/lexical_analysis.html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Reinforce the header-colon-suite pattern, paired delimiters, and for-loop grammar.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https://docs.python.org/3/reference/compound_stmts.html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final reading exercise. The program combines the core grammar patterns taught in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https://docs.python.org/3/tutorial/</a:t>
            </a:r>
          </a:p>
          <a:p xmlns:a="http://schemas.openxmlformats.org/drawingml/2006/main">
            <a:r>
              <a:t>- https://docs.python.org/3/tutorial/controlflow.html#defining-functions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three-pass reading method: shape, role,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https://docs.python.org/3/reference/grammar.html</a:t>
            </a:r>
          </a:p>
          <a:p xmlns:a="http://schemas.openxmlformats.org/drawingml/2006/main">
            <a:r>
              <a:t>- https://docs.python.org/3/tutorial/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c9daccbe74c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454bfeb41b4e48" /><Relationship Type="http://schemas.openxmlformats.org/officeDocument/2006/relationships/slideLayout" Target="/ppt/slideLayouts/slideLayout1.xml" Id="Rd097ba6fe11241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97ba6fe11241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63c5e62b44621" /><Relationship Type="http://schemas.openxmlformats.org/officeDocument/2006/relationships/notesSlide" Target="/ppt/notesSlides/notesSlide1.xml" Id="R1a638147514f46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e0cf6fc914cd6" /><Relationship Type="http://schemas.openxmlformats.org/officeDocument/2006/relationships/notesSlide" Target="/ppt/notesSlides/notesSlide2.xml" Id="Re9cf360ed6cc48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22366d10d473d" /><Relationship Type="http://schemas.openxmlformats.org/officeDocument/2006/relationships/notesSlide" Target="/ppt/notesSlides/notesSlide3.xml" Id="Rbfff7bc6b26a47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adb96ace54cac" /><Relationship Type="http://schemas.openxmlformats.org/officeDocument/2006/relationships/notesSlide" Target="/ppt/notesSlides/notesSlide4.xml" Id="Rb674db28afbe46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f05cf22d14181" /><Relationship Type="http://schemas.openxmlformats.org/officeDocument/2006/relationships/notesSlide" Target="/ppt/notesSlides/notesSlide5.xml" Id="R3480ae86688a4d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afa26997e45d4" /><Relationship Type="http://schemas.openxmlformats.org/officeDocument/2006/relationships/notesSlide" Target="/ppt/notesSlides/notesSlide6.xml" Id="R159b1ee2be4144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3c07fe3ca4265" /><Relationship Type="http://schemas.openxmlformats.org/officeDocument/2006/relationships/notesSlide" Target="/ppt/notesSlides/notesSlide7.xml" Id="Rb5de915d5f4a4a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425e7754144e2" /><Relationship Type="http://schemas.openxmlformats.org/officeDocument/2006/relationships/notesSlide" Target="/ppt/notesSlides/notesSlide8.xml" Id="Ra4be49bd6ff447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4d5bde4544d1e" /><Relationship Type="http://schemas.openxmlformats.org/officeDocument/2006/relationships/notesSlide" Target="/ppt/notesSlides/notesSlide9.xml" Id="Rbbba55a3eb554a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cd58cb9084fc8" /><Relationship Type="http://schemas.openxmlformats.org/officeDocument/2006/relationships/notesSlide" Target="/ppt/notesSlides/notesSlide10.xml" Id="R4bf2522a378d49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9bc4d5aad4cc5" /><Relationship Type="http://schemas.openxmlformats.org/officeDocument/2006/relationships/notesSlide" Target="/ppt/notesSlides/notesSlide11.xml" Id="Rd4b36b0ba85843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4c13ea7bc4f3f" /><Relationship Type="http://schemas.openxmlformats.org/officeDocument/2006/relationships/notesSlide" Target="/ppt/notesSlides/notesSlide12.xml" Id="R2b0db906eb6d49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dfddfccc2463c" /><Relationship Type="http://schemas.openxmlformats.org/officeDocument/2006/relationships/notesSlide" Target="/ppt/notesSlides/notesSlide13.xml" Id="R0ebcf522118e4b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d5c381e2f402f" /><Relationship Type="http://schemas.openxmlformats.org/officeDocument/2006/relationships/notesSlide" Target="/ppt/notesSlides/notesSlide14.xml" Id="R2a63cef2ad2547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0afff46d94f80" /><Relationship Type="http://schemas.openxmlformats.org/officeDocument/2006/relationships/notesSlide" Target="/ppt/notesSlides/notesSlide15.xml" Id="Re7036de1444d4a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6a0c47b724a67" /><Relationship Type="http://schemas.openxmlformats.org/officeDocument/2006/relationships/notesSlide" Target="/ppt/notesSlides/notesSlide16.xml" Id="R8b752aad088646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5f8375618406d" /><Relationship Type="http://schemas.openxmlformats.org/officeDocument/2006/relationships/notesSlide" Target="/ppt/notesSlides/notesSlide17.xml" Id="R06ab243dfeb840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dd1cb6ff34e9e" /><Relationship Type="http://schemas.openxmlformats.org/officeDocument/2006/relationships/notesSlide" Target="/ppt/notesSlides/notesSlide18.xml" Id="Rc04ac17e79344a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aefeea2764461" /><Relationship Type="http://schemas.openxmlformats.org/officeDocument/2006/relationships/notesSlide" Target="/ppt/notesSlides/notesSlide19.xml" Id="Ra7b880d29e7448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0f87ab72d4e61" /><Relationship Type="http://schemas.openxmlformats.org/officeDocument/2006/relationships/notesSlide" Target="/ppt/notesSlides/notesSlide20.xml" Id="Rdbe8c57306ad4a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fb768fbaf4411" /><Relationship Type="http://schemas.openxmlformats.org/officeDocument/2006/relationships/notesSlide" Target="/ppt/notesSlides/notesSlide21.xml" Id="R87b8e3c3472a404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303470e8840a1" /><Relationship Type="http://schemas.openxmlformats.org/officeDocument/2006/relationships/notesSlide" Target="/ppt/notesSlides/notesSlide22.xml" Id="R4b35e849bd7f41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822665f5a44b7" /><Relationship Type="http://schemas.openxmlformats.org/officeDocument/2006/relationships/notesSlide" Target="/ppt/notesSlides/notesSlide23.xml" Id="Rf95be95ee80c402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0e0c8978b4428" /><Relationship Type="http://schemas.openxmlformats.org/officeDocument/2006/relationships/notesSlide" Target="/ppt/notesSlides/notesSlide24.xml" Id="R747d01488dc043b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47e0f06dc4682" /><Relationship Type="http://schemas.openxmlformats.org/officeDocument/2006/relationships/notesSlide" Target="/ppt/notesSlides/notesSlide25.xml" Id="R7a88933c5a7149e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88719e5f7412f" /><Relationship Type="http://schemas.openxmlformats.org/officeDocument/2006/relationships/notesSlide" Target="/ppt/notesSlides/notesSlide26.xml" Id="Rf5bacf1df454410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31b6a7e684f7f" /><Relationship Type="http://schemas.openxmlformats.org/officeDocument/2006/relationships/notesSlide" Target="/ppt/notesSlides/notesSlide27.xml" Id="R264fa9049c9f48f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973c7d40b45f6" /><Relationship Type="http://schemas.openxmlformats.org/officeDocument/2006/relationships/notesSlide" Target="/ppt/notesSlides/notesSlide28.xml" Id="Rd07d179a627c4df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39494a2c547e9" /><Relationship Type="http://schemas.openxmlformats.org/officeDocument/2006/relationships/notesSlide" Target="/ppt/notesSlides/notesSlide29.xml" Id="R447d680927d14b2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d9d3f8de64553" /><Relationship Type="http://schemas.openxmlformats.org/officeDocument/2006/relationships/notesSlide" Target="/ppt/notesSlides/notesSlide30.xml" Id="Redbae48c634249e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83061f8d94d8b" /><Relationship Type="http://schemas.openxmlformats.org/officeDocument/2006/relationships/notesSlide" Target="/ppt/notesSlides/notesSlide31.xml" Id="Rc5412ac87526453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a6b55d3d2420c" /><Relationship Type="http://schemas.openxmlformats.org/officeDocument/2006/relationships/notesSlide" Target="/ppt/notesSlides/notesSlide32.xml" Id="Rabc79401ab34486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53015a392482f" /><Relationship Type="http://schemas.openxmlformats.org/officeDocument/2006/relationships/notesSlide" Target="/ppt/notesSlides/notesSlide33.xml" Id="R71bef314b37248d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8cc3084884ec0" /><Relationship Type="http://schemas.openxmlformats.org/officeDocument/2006/relationships/notesSlide" Target="/ppt/notesSlides/notesSlide34.xml" Id="R7be07014484e4df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1559bfce04253" /><Relationship Type="http://schemas.openxmlformats.org/officeDocument/2006/relationships/notesSlide" Target="/ppt/notesSlides/notesSlide35.xml" Id="Re86f3f23956e4c2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e9d570b42443b" /><Relationship Type="http://schemas.openxmlformats.org/officeDocument/2006/relationships/notesSlide" Target="/ppt/notesSlides/notesSlide36.xml" Id="R26b0d097ea9d45b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f796399f542f2" /><Relationship Type="http://schemas.openxmlformats.org/officeDocument/2006/relationships/notesSlide" Target="/ppt/notesSlides/notesSlide37.xml" Id="R00db913514ac402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57a1483d94058" /><Relationship Type="http://schemas.openxmlformats.org/officeDocument/2006/relationships/notesSlide" Target="/ppt/notesSlides/notesSlide38.xml" Id="R919f203200f7423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9d7d5c40b4c95" /><Relationship Type="http://schemas.openxmlformats.org/officeDocument/2006/relationships/notesSlide" Target="/ppt/notesSlides/notesSlide39.xml" Id="R2a02f7e81d554be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c01d295cf4bda" /><Relationship Type="http://schemas.openxmlformats.org/officeDocument/2006/relationships/notesSlide" Target="/ppt/notesSlides/notesSlide40.xml" Id="R4c9f56848d8344c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666ad5c4e425e" /><Relationship Type="http://schemas.openxmlformats.org/officeDocument/2006/relationships/notesSlide" Target="/ppt/notesSlides/notesSlide41.xml" Id="Rc96e4b22262a45a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b112d42a244e3" /><Relationship Type="http://schemas.openxmlformats.org/officeDocument/2006/relationships/notesSlide" Target="/ppt/notesSlides/notesSlide42.xml" Id="R4b2cc772e4954bd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549e26a09415e" /><Relationship Type="http://schemas.openxmlformats.org/officeDocument/2006/relationships/notesSlide" Target="/ppt/notesSlides/notesSlide43.xml" Id="R6c8f4bd40ff1443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c5e00ab484720" /><Relationship Type="http://schemas.openxmlformats.org/officeDocument/2006/relationships/notesSlide" Target="/ppt/notesSlides/notesSlide44.xml" Id="R6e0e30f48cdc413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9b2e58a334da3" /><Relationship Type="http://schemas.openxmlformats.org/officeDocument/2006/relationships/notesSlide" Target="/ppt/notesSlides/notesSlide45.xml" Id="R38dca96da1ed423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440c089064eec" /><Relationship Type="http://schemas.openxmlformats.org/officeDocument/2006/relationships/notesSlide" Target="/ppt/notesSlides/notesSlide46.xml" Id="Rda4b680b9ef6477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d81e0f4c44bd8" /><Relationship Type="http://schemas.openxmlformats.org/officeDocument/2006/relationships/notesSlide" Target="/ppt/notesSlides/notesSlide47.xml" Id="Rccf2f2fb364f45a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5d354dea844d0" /><Relationship Type="http://schemas.openxmlformats.org/officeDocument/2006/relationships/notesSlide" Target="/ppt/notesSlides/notesSlide48.xml" Id="Rfc1d4bfcbc2a421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d8c97b77e47b9" /><Relationship Type="http://schemas.openxmlformats.org/officeDocument/2006/relationships/notesSlide" Target="/ppt/notesSlides/notesSlide49.xml" Id="Racce9d77558a409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6b11d1f784dd1" /><Relationship Type="http://schemas.openxmlformats.org/officeDocument/2006/relationships/notesSlide" Target="/ppt/notesSlides/notesSlide50.xml" Id="Rf5ab09d06451493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60763801041c6" /><Relationship Type="http://schemas.openxmlformats.org/officeDocument/2006/relationships/notesSlide" Target="/ppt/notesSlides/notesSlide51.xml" Id="Racee2120f13c4a0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0a5e2ab744693" /><Relationship Type="http://schemas.openxmlformats.org/officeDocument/2006/relationships/notesSlide" Target="/ppt/notesSlides/notesSlide52.xml" Id="R4e27870e92394a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B44E0-6423-439B-A936-A32325CC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PYTHON / SYNTAX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4D3F0-2E63-4AC6-906B-ED57FF1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 grammar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BF536-9DA5-425E-AC26-A023D1C0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 visual guide to reading and writing Python syntax from zero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704850" y="3829050"/>
            <a:ext cx="4857750" cy="953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388C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7C0E7-87F6-49CF-BA15-6E45B2E0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Scott Brodie Forsyth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793E9-0F01-4A77-86A3-B0E0CD48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Syntax first. Meaning second. Practice throughout.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5B27C-0131-4C3A-A023-EB4D8DDC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1432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E068A-F36E-409F-AC4D-1B54B1C1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76425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THE SHAPE OF PYTHON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FA008-CAFE-46DD-9242-A6504FEA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24075"/>
            <a:ext cx="28003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if ready:</a:t>
            </a:r>
          </a:p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learn_python()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EB1A4-EFED-4E25-B71A-291B6C3B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75DF2-C8BE-41A2-B087-542AEB94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844029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2BB4FE-9161-47A4-A265-EFE6B01A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5D220-B767-416D-8D49-6D46A1F3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The finish line: you can read code as structure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0DF64-DAC1-484A-AF76-DAFD20E0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Not memorizing random symbols—seeing the pattern that makes a line legal.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F6A7E-D6B2-406E-ADFD-6C1A0B33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81669-C526-4BE4-A2E6-90E45C1E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48102-786D-46C4-8176-D7F7B1C7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By the end, you should be able to: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FE635-5786-47F3-8F91-09A728FC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A08B7-CD14-4867-8F12-81757656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name every important token in a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697BC-150C-4C47-A5D4-D773C4AD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95C22-42F7-4DEA-B11D-0C74E57D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separate expressions from statements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4D3B2-1C0B-4C45-BD94-C16B8ED7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78549-803E-4111-98F1-F3317C7E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follow indentation as a block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806A6-16EE-4EF7-B950-88CE33E8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67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B88B8-36A1-48E5-9E2C-56C2BA15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9097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write functions, loops, classes, and imports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D09D7-5639-452A-8C58-553006AA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43791-B00E-4EF3-9D29-6DEC31BA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repair the grammar when Python complains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6B7EB-6A7F-4943-9F26-26DD59B4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62150"/>
            <a:ext cx="4000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56835-7F75-4BAB-B097-7B63CA76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05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6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45B8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5B89"/>
                </a:solidFill>
                <a:latin typeface="Arial"/>
                <a:ea typeface="Arial"/>
                <a:cs typeface="Arial"/>
              </a:rPr>
              <a:t>Read every line in three passes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F972A-DC51-434E-AB10-8F96C6E8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1238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0">
            <a:solidFill>
              <a:srgbClr val="EAF6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E3C7B-117B-49A8-B5CB-39BF6EF6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45B8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5B89"/>
                </a:solidFill>
                <a:latin typeface="Arial"/>
                <a:ea typeface="Arial"/>
                <a:cs typeface="Arial"/>
              </a:rPr>
              <a:t>1  SHAPE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BA32FA-EFA4-453B-9D49-89796929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What tokens and indentation are present?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A93C1-57D8-4A8D-AB65-7C4B163C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48100"/>
            <a:ext cx="1238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0">
            <a:solidFill>
              <a:srgbClr val="F1F4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F81A71-4B8C-4F21-832A-17603882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2  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5B8920-73DC-4D81-85EB-545820AC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91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What is the statement or expression doing?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DEDFE7-CA38-46AE-AC7D-27555DB0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0"/>
            <a:ext cx="1238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0">
            <a:solidFill>
              <a:srgbClr val="F1F4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34CB1F-2D59-4E03-947E-03F7C22D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05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3  VALUE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544C12-D59E-47A8-8C9A-A26908E3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What does it evaluate to or change?</a:t>
            </a:r>
          </a:p>
        </p:txBody>
      </p:sp>
    </p:spTree>
    <p:extLst>
      <p:ext uri="{BB962C8B-B14F-4D97-AF65-F5344CB8AC3E}">
        <p14:creationId xmlns:p14="http://schemas.microsoft.com/office/powerpoint/2010/main" val="959483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7CB4A-C336-43E7-A78B-9E71CB28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9702F-C68B-495F-8BED-F1548052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Three words explain most confusion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BAF78-0115-408F-A091-CDB241CA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same line can be legal, meaningful, or useful at different levels.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4917E-41A8-4E0D-A3E0-168A56E8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C6DEA-7806-4250-AC5C-B8B12F30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6E115-281D-45B7-AE48-CEB6920E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if age &gt;= 18: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857250" y="2952750"/>
            <a:ext cx="42862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2F155-D597-4A7B-A31B-E794F9FB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 legal Python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FA491-1D07-4216-895F-C90D5C03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1CA62-3EBC-4698-A301-C9A3B701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Syntax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AADA5-2606-4395-9B07-D916C1DD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57425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visible arrangement of tokens: keyword, name, operator, number, colon.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FFF7B-F81B-4B39-A59C-EF2A64A8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764D5-9BE7-44C6-A35B-0E49F157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9562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Grammar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DAB36-917A-4262-975E-1898C078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0425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rule that says an if-header must end with : and be followed by a suite.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5DBAA-14E5-4E33-BD19-B8E0DD1A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DFEEA-C513-4D6F-A6BA-EFA06E57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3862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Semantics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8D2CF-7836-4743-A36A-55E4B684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43425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meaning: choose the indented block when age is at least 18.</a:t>
            </a:r>
          </a:p>
        </p:txBody>
      </p:sp>
    </p:spTree>
    <p:extLst>
      <p:ext uri="{BB962C8B-B14F-4D97-AF65-F5344CB8AC3E}">
        <p14:creationId xmlns:p14="http://schemas.microsoft.com/office/powerpoint/2010/main" val="325846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DDAC38-5B66-4E3C-873C-62509B13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08F10-17E2-4A65-A176-265EDA73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 source goes through four stages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3FC1B-F81B-41CD-B14C-52667F4F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Grammar is the gate between text and executable meaning.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7E156-6D99-43CF-A7BC-7D9023C9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B840B-A233-428D-BF1C-920744DC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2286000" y="2952750"/>
            <a:ext cx="1095375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88C9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4810125" y="2952750"/>
            <a:ext cx="1095375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88C9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7334250" y="2952750"/>
            <a:ext cx="1095375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88C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D2FC6-DEC4-49B6-864E-ED7671BC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428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6310D-D2DA-4B71-82BF-897BD3A7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source 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F2E6C-1C94-413A-AC3E-1D5FA3DF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what you 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40B22-8443-4278-B0EB-4BDFDBC9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1428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BDA1E-BD01-4099-A559-138040F2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193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tokens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00D9F-DB95-4E55-A71B-46E7BD1C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480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small pieces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C657F-E48F-42C0-BCC7-77B08F19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428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D4622-C287-44D0-8F28-F170B54D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193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parse tree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6D612-D276-4552-A3EB-C1718D96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934C1-C197-43C5-A7DE-810920C9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1428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C0E19-2026-4C92-BC49-B3DB7466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193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D25A1-F557-420F-ACB1-C7DD168B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480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what runs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2DECB-150C-4C34-A926-701BE5C3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1428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06B11-15EB-49BE-9E90-4EB15AF5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193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D58171-7CC1-4C69-8352-7FB20164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480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AB7C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7C6"/>
                </a:solidFill>
                <a:latin typeface="Arial"/>
                <a:ea typeface="Arial"/>
                <a:cs typeface="Arial"/>
              </a:rPr>
              <a:t>what runs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8EAEF-F378-4BE4-8EA7-1CC3AFEE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4646"/>
          </a:solidFill>
          <a:ln xmlns:a="http://schemas.openxmlformats.org/drawingml/2006/main" w="0">
            <a:solidFill>
              <a:srgbClr val="C5464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F7B70-2018-4CDD-BCB9-10C6FA1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916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5464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54646"/>
                </a:solidFill>
                <a:latin typeface="Arial"/>
                <a:ea typeface="Arial"/>
                <a:cs typeface="Arial"/>
              </a:rPr>
              <a:t>Key distinction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4228D2-DFB6-484A-BA70-0F51F245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916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 SyntaxError stops the pipeline before the program can run.</a:t>
            </a:r>
          </a:p>
        </p:txBody>
      </p:sp>
    </p:spTree>
    <p:extLst>
      <p:ext uri="{BB962C8B-B14F-4D97-AF65-F5344CB8AC3E}">
        <p14:creationId xmlns:p14="http://schemas.microsoft.com/office/powerpoint/2010/main" val="8114916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EC63E1-D3AC-4769-BF86-8E9E8D0D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913D0-F33C-4D55-9DFF-16300AC1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The token legend: seven families you will keep seeing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16E4A-2B4B-49AB-BF48-7339BC5F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54233-8809-4B73-ADB3-2B19DA99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86F1D-CFF2-4026-9911-BAEB8F97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 token is a small unit the parser can recognize.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CA226-3F48-4747-95D2-C21DF5D6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1906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2FCE2-EEF6-41D1-A2CA-7BB9F230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EAA9D-AB20-4F96-980C-1F27C441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keyword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9D7AD-B8FD-40F7-A246-4281AA21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57450"/>
            <a:ext cx="13811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C634A-A97B-4E8A-8B48-6CFD9959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5336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93443-DABA-4852-A24D-9CE27AD2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480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A1062-361B-4247-AFA1-E0A63550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11906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DD4F5-99AA-4ED7-BA5B-852B985F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3365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076C8-E32C-4749-9120-2F02AB36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literal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93AD2-F5C1-4350-9B14-7635D43F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57450"/>
            <a:ext cx="128587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752A3"/>
          </a:solidFill>
          <a:ln xmlns:a="http://schemas.openxmlformats.org/drawingml/2006/main" w="0">
            <a:solidFill>
              <a:srgbClr val="7752A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54C94-BC7D-4BED-A98E-E6D7AB4D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533650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&gt;=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BBF62-9C4E-404E-9C6F-C4628855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480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369EE-9825-4078-A99F-7EAB713B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11906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54646"/>
          </a:solidFill>
          <a:ln xmlns:a="http://schemas.openxmlformats.org/drawingml/2006/main" w="0">
            <a:solidFill>
              <a:srgbClr val="C546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BCF0E-685C-436C-B4F6-EE346294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3365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D8DB0-AF44-4B38-BCD4-D016137D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delimiter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675D0-6C7E-4ED0-8B1B-F809658C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57450"/>
            <a:ext cx="11906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5B89"/>
          </a:solidFill>
          <a:ln xmlns:a="http://schemas.openxmlformats.org/drawingml/2006/main" w="0">
            <a:solidFill>
              <a:srgbClr val="145B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86C74-46AA-48EB-8092-179AC736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3365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66A6DC-5F1D-491B-BAE2-5A892A96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480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indent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558FB-36C3-48E9-AD1C-5D67E8F9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1428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B6474"/>
          </a:solidFill>
          <a:ln xmlns:a="http://schemas.openxmlformats.org/drawingml/2006/main" w="0">
            <a:solidFill>
              <a:srgbClr val="5B647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033AB0-1B52-4028-BFD1-95C66BA4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33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note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AC2F3E-DD52-439D-A625-FC2C0582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48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comment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0418BD-BAF1-41AF-B393-45F9B49A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8191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D75A70-924E-4186-A566-3E1F853E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14825"/>
            <a:ext cx="7848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if score &gt;= 42:  # pass mark</a:t>
            </a:r>
          </a:p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print("go")</a:t>
            </a:r>
          </a:p>
        </p:txBody>
      </p:sp>
    </p:spTree>
    <p:extLst>
      <p:ext uri="{BB962C8B-B14F-4D97-AF65-F5344CB8AC3E}">
        <p14:creationId xmlns:p14="http://schemas.microsoft.com/office/powerpoint/2010/main" val="93282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08891-F295-432F-953B-B18BF386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0B784-2919-4F04-B57C-0D976F68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One line has a job for every symbol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1F0F5-1C6C-485A-B7B6-662A784F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Start with a simple assignment: target on the left, expression on the right.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4D04A-CEEF-4A4C-9D57-A58AB3C3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8736A-0894-4E91-BBCA-DBEAB7F9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01534-9160-4374-BD11-E6AAF49B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90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5A108-B5FA-4AB0-BE0C-F9DE539D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556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READ LEFT TO RIGHT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70B3B-A101-4696-952C-06BEAED9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556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total = price * quantity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BE2C1-0AC1-415E-B0C4-D9AFD7AF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6EB97-FFBF-4F95-B18C-1843404B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5262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95BCD-C81B-4F66-8147-97734090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574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total is the name that receives the result.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ACF6A-B3BA-4260-84C7-B3347F3F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2A3"/>
          </a:solidFill>
          <a:ln xmlns:a="http://schemas.openxmlformats.org/drawingml/2006/main" w="0">
            <a:solidFill>
              <a:srgbClr val="7752A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23524-18A9-47D8-82BA-FAF3FB3C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575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80E85-9274-4357-A11C-2ABA3F7C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6230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= assigns; * multiplies.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676C2-15BB-4D29-9D8A-00182970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8059C-D415-4E74-B5AD-25CF246E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6237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expression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944B1-5A69-41D9-AFB7-3DA9E0AE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6717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price * quantity produces a value.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21BF8-4795-45C6-B7D4-81D642A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590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C8107-C11F-44A4-9F95-803BB3C6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29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assignment  ::=  target  "="  expression</a:t>
            </a:r>
          </a:p>
        </p:txBody>
      </p:sp>
    </p:spTree>
    <p:extLst>
      <p:ext uri="{BB962C8B-B14F-4D97-AF65-F5344CB8AC3E}">
        <p14:creationId xmlns:p14="http://schemas.microsoft.com/office/powerpoint/2010/main" val="8810644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98AC8-EF23-4674-AA21-99DDBA52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4E2BE-FC61-4BAB-9E2C-24F0FCFF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Indentation is part of the grammar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D1DFA-2676-4836-BDCE-1627A642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colon opens a suite; indentation tells Python which lines belong to it.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52B98-602F-4E1D-A0BF-C0A6EEB8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4C57C-EB88-4A4F-BD58-82474FA7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DA8CE-6EBA-4F6B-BA6F-5057D8C3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048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94B6A-8C48-485B-A826-8711F8EF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VALID BLOCK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E7B40-074C-435C-8DF8-E479680A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47053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if logged_in: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show_dashboard()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show_notifications()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print("done")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DB5B5-E8DD-4F11-BC9F-C9E6167F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286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C546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9C549-3991-4A1C-B4D4-74FD2A9A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394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SYNTAXERROR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6484C-247D-4FDD-8626-3515C37B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3943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if logged_in: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show_dashboard()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111F7-BD82-4A46-8E5C-AF39D3E1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684C7-F250-40E3-9C00-74F29808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57625"/>
            <a:ext cx="421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Think in regions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31CB2-3EB3-4439-9F3B-23F72F18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62425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Every indented line belongs to the nearest open header at the same indentation level.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99CF7-CBF6-4941-ADC0-17D1589E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header  :  suite</a:t>
            </a:r>
          </a:p>
        </p:txBody>
      </p:sp>
    </p:spTree>
    <p:extLst>
      <p:ext uri="{BB962C8B-B14F-4D97-AF65-F5344CB8AC3E}">
        <p14:creationId xmlns:p14="http://schemas.microsoft.com/office/powerpoint/2010/main" val="8290447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10643-72EB-49B3-9DF1-A8E460E3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73F82-96E8-4795-89DE-2FA62C25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Newlines end statements—unless delimiters keep them open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6E078-B44D-4326-919C-67AA600E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BB444-54FA-498F-AAD6-013EF22C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F3759-7556-457F-B9F9-644D5411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762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3CF6B-5753-4E53-9C3F-96CEF738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41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TWO SIMPLE STATEMENTS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C6F0F-3D0D-43EB-99FA-5326D509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419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name = "Ada"</a:t>
            </a:r>
          </a:p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print(name)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E2425-AC0C-4B55-A8FC-00004317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762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7415D-F8FA-4B74-9ADB-5BA0E862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441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IMPLICIT LINE JOINING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E8A1C-4A50-4330-949F-0B0C8F82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4419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total = (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price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* quantity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13172-F8FC-4D63-BE85-A5FD758A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4"/>
          </a:solidFill>
          <a:ln xmlns:a="http://schemas.openxmlformats.org/drawingml/2006/main" w="0">
            <a:solidFill>
              <a:srgbClr val="5B64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B33F5-1F55-4CCF-AA5D-6AD092FA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48125"/>
            <a:ext cx="459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Comments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6CE90-B01A-424A-ACE3-27E65C90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459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 # starts a comment that runs to the end of the physical 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B9421-110F-48D2-BE08-F19FCA38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58801-B94E-4295-8F1A-660C8B0E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48125"/>
            <a:ext cx="459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Semicolons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F67A7-0948-49AE-B3C4-F5817378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52925"/>
            <a:ext cx="459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You can write simple statements on one line with ;, but separate lines are clearer.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0736A-36EF-42EB-A3C5-CA8DB919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Use parentheses, brackets, or braces when a long expression should continue.</a:t>
            </a:r>
          </a:p>
        </p:txBody>
      </p:sp>
    </p:spTree>
    <p:extLst>
      <p:ext uri="{BB962C8B-B14F-4D97-AF65-F5344CB8AC3E}">
        <p14:creationId xmlns:p14="http://schemas.microsoft.com/office/powerpoint/2010/main" val="166134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FCB9B-3DDB-4B19-921E-6957C86E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1960E-E92F-4715-9FC5-E2A9D46A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Names are labels; keywords are reserved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0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1E253-7CB7-436D-A1BA-459B948C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9C13A-1703-40DD-8DFB-3554D4F7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90204-FE56-4B58-B809-70CBBA17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 valid identifier starts with a letter or _ and can continue with letters, digits, and _.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0FF50-776A-41E3-B3EC-52509188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572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FF76A-4803-4180-BF41-0652007E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422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VALID NAMES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0183F-BBDF-49F6-8392-C78A7847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422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user_name = "Scott"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_count = 3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item2 = "book"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4B209-BDA2-4F55-8155-F80B6586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572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C546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DBD07-68CE-46E2-A363-D350CC00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422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NOT VALID NAMES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C9D2F-C3E1-4D1D-A98D-FC956E5F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422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2items = []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class = "A"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first-name = "A"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D323A-1F9F-4245-BA2A-651D46E1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F0CB9-766C-4EA1-B0D3-944DD7DE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82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Style is separate from legality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4E8FA-39A0-4A81-9547-71FDA24D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snake_case is a convention. Python will accept many legal names that humans find hard to read.</a:t>
            </a:r>
          </a:p>
        </p:txBody>
      </p:sp>
    </p:spTree>
    <p:extLst>
      <p:ext uri="{BB962C8B-B14F-4D97-AF65-F5344CB8AC3E}">
        <p14:creationId xmlns:p14="http://schemas.microsoft.com/office/powerpoint/2010/main" val="588007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33A66-6EDB-4A3B-B8FE-5E4BAFAA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3AD17-9E41-4B59-B1F0-E9C4A24B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23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Values become expressions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C4657-2A15-45BE-B160-D78387E1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Now we zoom in on the pieces that produce values.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704850" y="3905250"/>
            <a:ext cx="4476750" cy="953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388C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00245-259F-4976-AB8F-EB3602A6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3436E-49AD-444D-B728-74E74F39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GRAMMAR LENS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DD9EF-193C-41E5-89E8-1472C102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28003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x = 2 + 3 * 4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54F71-0204-4DCD-B479-150C2A7F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B3157-E749-4619-819F-B4419D9C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02170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219436-BF19-4EC7-92DD-B10CD1D0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FC067-384B-461C-B563-2F6446EC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A value is data; a type describes its shape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F5181-65D6-4C71-9D8B-8EE6FF7C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Literals are values written directly into source code.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0024E-EF05-480A-AF17-500CA0E8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1FD0F-411C-49A9-BFDB-DAE507EC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3BD10-9D09-4D5A-AF8A-DB73BB33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AA756-E0A0-46DA-B80B-BDA9D646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written 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2F0B8-DC01-4852-A93C-A2C197FC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9A712-3A24-4E59-9133-40106B03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8122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25DF7-0A80-4FE8-B13F-A8B02724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9E5E5-1B5D-4F2A-A47F-52D3B166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812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47C55-E969-48E0-8235-4AD1D6AB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63098-EC46-4DC3-A37B-5AC52416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0304CE-A4D0-45E1-8DF3-B40F1B5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EFFFB-3E99-46DE-A2E5-289B36B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7652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056BC-C9CA-4C87-A02F-997D94E4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AF44D-38B3-41E3-BFDC-FDEA7476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765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counting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AFE55-361D-4C62-BDFE-9D71B8D7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685B5-3DEF-400B-A197-620720A7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3.14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7261ED-9B76-49E7-935E-10811294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861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E20C4-CD09-4316-8B54-56EC4F6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7182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float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52EC29-CB4E-4815-A0ED-C0FDBC61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861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6E44D1-0CE1-4797-A4DD-985E3D7C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718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measurements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208BC-FDF9-4418-85C6-F44A44BB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3A042F-3BF3-41D6-9023-8F3608D2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"hello"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6053B3-0E2B-4E37-B67B-83C892E6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358168-32E2-46AC-97EB-0F1C76BE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6712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str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DB927C-736D-476C-A571-99594BD7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814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A8FA10-2156-453B-A4BD-64190924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671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CB79B2-3012-4088-B362-27F6CDD2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941E4E-9F11-4B94-902E-814B7FE7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True / False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D2DA93-8321-4600-B9B5-175FB8F4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3DF16A-446A-40F4-97BC-970CE038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6242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bool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CF3D4A-D81A-4A22-8963-9CEA8767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767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5D37D4-CC5F-4D01-8EF5-3588B431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624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yes or no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E3856E-32EF-4052-9BB7-90859E9F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C3579E-F855-4D05-A942-DCBCA66D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None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E5A82F-06D0-4CC0-885A-A1BCDE88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72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1AF25A-7235-471F-87A9-93DD7741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5772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NoneType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A63686-5579-4C16-B0F8-DE853F88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720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76B20A-7E68-45F6-8560-CAB88245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577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no value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E4B11A-E48B-4DCC-BEF8-59A091A9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33625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308760-F165-4931-B8FD-5B165A82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05075"/>
            <a:ext cx="2800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type(42)       # int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type("hello")  # str</a:t>
            </a:r>
          </a:p>
        </p:txBody>
      </p:sp>
    </p:spTree>
    <p:extLst>
      <p:ext uri="{BB962C8B-B14F-4D97-AF65-F5344CB8AC3E}">
        <p14:creationId xmlns:p14="http://schemas.microsoft.com/office/powerpoint/2010/main" val="3155958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50735-AEA4-410D-8B38-D3845267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0B59A-AA03-4A8B-A531-0000F4E2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Strings are delimiters plus characters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8ABB3-F609-4580-84FE-4CC195FD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B123B-7660-4367-95C3-29A1E3F1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BC962-5A64-4CC5-BF09-A1D804C5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238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05F74-C5E3-49BA-98DD-1A265A7E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89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DIFFERENT STRING SPELLINGS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8ED94-077C-49A0-824D-9CA869F7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14575"/>
            <a:ext cx="48958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single = 'Ada'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double = "Lovelace"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path = "C:\\tmp"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long = """three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lines"""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B1F9A-17AF-4A31-B5EF-D31BCACB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4A18B-1BEF-43DA-AD95-505731F5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4787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Quotes do not become part of the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E3103-F789-4FD2-A88F-CD972DFC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52675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They tell Python where the string starts and ends.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30A3A-0CB3-425E-8EAB-94BA874D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E6128-BE72-4CBF-9D3D-9396E06F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48000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Escapes are still characters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D5D13-589E-40CE-BD5C-113F494B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\\n means a newline; \\t means a tab; \\" means a quote.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C6040-5472-40C6-B34A-6F2ED241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38625"/>
            <a:ext cx="4000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53226-FBEB-4638-B4A4-81054BE1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52925"/>
            <a:ext cx="365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F-STRING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AC5C3-8AA1-4B15-AB39-8F748CD8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00575"/>
            <a:ext cx="365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name = "Ada"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message = f"Hello, {name}!"</a:t>
            </a:r>
          </a:p>
        </p:txBody>
      </p:sp>
    </p:spTree>
    <p:extLst>
      <p:ext uri="{BB962C8B-B14F-4D97-AF65-F5344CB8AC3E}">
        <p14:creationId xmlns:p14="http://schemas.microsoft.com/office/powerpoint/2010/main" val="13370336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242C1-C348-444D-9076-EE9D5BA6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65FB4-CCFC-4AAB-BEE5-8B7E9A33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Expressions produce values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408FA-6970-45B6-9B97-BC9F36EF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If Python can evaluate it to a value, it is expression-shaped.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86406-9025-4F99-8D1E-E2B3282F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677DA-F72A-4361-ADFA-B333299F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D5B02-9398-40AE-9FCC-4FDEB690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442BE-8790-4C6A-A108-09DFA4F8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B55B8-079D-477B-BF47-564A846D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610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2 + 3</a:t>
            </a:r>
          </a:p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len("hello")</a:t>
            </a:r>
          </a:p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user.name</a:t>
            </a:r>
          </a:p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is_ready and has_key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AD69F-BD1F-4EA6-B3EA-0E2D7379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381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DE84F-7AFD-49A5-8CA0-61D5A333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14550"/>
            <a:ext cx="403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STATEMENTS THAT USE EXPRESSIONS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C818B-341B-492C-A542-E2D1EFF7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038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x = 2 + 3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if x &gt; 4: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print(x)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return 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165D3-B83B-4D6A-A384-F8EF3F53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8562A-C08A-4BED-A296-809FC4A1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992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3E7B2-5BF0-4AC0-B132-B34FA244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992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Expression → value. Statement → action or structure.</a:t>
            </a:r>
          </a:p>
        </p:txBody>
      </p:sp>
    </p:spTree>
    <p:extLst>
      <p:ext uri="{BB962C8B-B14F-4D97-AF65-F5344CB8AC3E}">
        <p14:creationId xmlns:p14="http://schemas.microsoft.com/office/powerpoint/2010/main" val="14014994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882542-FE3F-4F81-9C4B-2489ECE9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2833D-C6DA-46C3-AA50-49B4BA46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Operators combine or transform values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87E97-D595-404D-8607-8954E044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F127D-C559-4A38-831F-E98A4D14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C81F3-A04B-4585-955D-F4ED8A2E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C7833-4FEB-4501-98E0-88CF8E08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2009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family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9142B-7C67-4C21-8780-E2D0BF7D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2405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C9C15-B916-46B1-A659-5DD99E3E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009775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operators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E92C7-D865-4FA7-A72D-4B33B687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240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D491E-8339-4161-A9E3-CA859B37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00977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99716-4245-4513-BE01-659E7CF6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9075F-A742-40DB-8EC7-C7538849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009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arithmetic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2E044-A3E2-40B5-8896-12A9A04D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3840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E54D0-9E71-4807-81AD-99F0C360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24125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+  -  *  /  //  %  **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6DA75-5907-4223-A2E0-7A75E38C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384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B568C-1834-4250-9EC3-75E3EA85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5241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a +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8E669-306F-483C-80A7-21D579EC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E7681-28D1-4002-B71B-AC96445D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009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BD9DD-0E09-46B3-837C-C8EE775C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5275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21939-4BE5-4312-8A82-B28DCF07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38475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==  !=  &lt;  &lt;=  &gt;  &gt;=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BE780-4D7B-4F51-9236-850B435E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527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6EAACD-4970-4380-9156-795074F8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3847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age &gt;= 18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9D435-166D-45BF-85A4-17E6A916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915151-7116-403F-A314-B86565FC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009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logical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DE1205-C694-4C67-81B4-A86322F8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6710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670A5B-BC9F-4FCD-B3CB-9D082F80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552825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and  or  not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E05FBB-BCEB-4A06-BB2C-CCCD7A5E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671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1FA7B6-6586-4001-ACD2-1658DA13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5528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ready and paid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5A779D-59C6-44D2-ACE2-3839DEB3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AC6A45-E048-4736-8751-E59A57FF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2009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membership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893383-C04A-434F-B504-0676E1D1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8145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83237D-249D-45E6-A36D-E447CD52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67175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in  /  not 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31F925-10A2-451A-9607-FE63846D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814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D6F418-0701-4E31-BB01-BD3EC3CC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06717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x in items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6AF4EE-22B3-4857-8F67-6C3AD73E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22215B-1320-49F7-ACC8-E754EA92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2009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5CA193-E4EE-406A-8CAB-022B155C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9580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809367-9352-4575-B779-0B321E69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581525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is  /  is not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416622-BE5C-49D6-AAC9-C1ACB00D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958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72E787-2999-4388-BAA2-9C61FDE1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5815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value is None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8E4942-E2AE-4BA7-815C-66C7A4AA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9E3FF8-FE13-41A0-8D05-8D23A726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2009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E78142-D579-49D4-9565-D8F86275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1015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FC1BB0-B24A-46E8-8B5F-B463F1B3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095875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=  +=  -=  ...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1A0963-3A8D-49A7-8CC5-F1E10510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010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3CF225-F848-471A-8346-11AFC447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09587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count += 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3F219B-91EE-400F-A609-0CF0D05B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4646"/>
          </a:solidFill>
          <a:ln xmlns:a="http://schemas.openxmlformats.org/drawingml/2006/main" w="0">
            <a:solidFill>
              <a:srgbClr val="C5464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DF3B08-4039-4923-823F-38A8050E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973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Do not mix these up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2D9372-40F8-4860-9EC9-15854F67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29300"/>
            <a:ext cx="973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== asks whether values compare equal. = binds a name to a value. is tests object identity.</a:t>
            </a:r>
          </a:p>
        </p:txBody>
      </p:sp>
    </p:spTree>
    <p:extLst>
      <p:ext uri="{BB962C8B-B14F-4D97-AF65-F5344CB8AC3E}">
        <p14:creationId xmlns:p14="http://schemas.microsoft.com/office/powerpoint/2010/main" val="2315167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9794E-2272-4E73-88BB-37425AF7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0A3F3-C811-4F62-BAE6-11B8DEE4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Precedence is grammar’s invisible parentheses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1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463E4-2AA3-4F03-A497-D2BB7A79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0096B-9583-4236-A9F0-47425069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53434-3742-46B9-BBAB-60A811AA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476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0241C-DCEE-4E6E-AC6D-CC264FC6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62175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MULTIPLICATION BINDS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49E63-C1F9-4C58-B1C6-406AFA03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9825"/>
            <a:ext cx="4133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2 + 3 * 4</a:t>
            </a:r>
          </a:p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# 2 + (3 * 4)  -&gt; 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81A71-C12F-4042-B1C0-4D81984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4476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799BD-F4F2-4507-BF3D-B175B89C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76675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PARENTHESES OVERRIDE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0DE72-8CED-44BD-81F6-59C2AE1D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24325"/>
            <a:ext cx="4133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(2 + 3) * 4</a:t>
            </a:r>
          </a:p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# 5 * 4  -&gt; 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DD139-943D-490B-A50A-4E474191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A useful beginner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A6DB7-2D5E-44EB-BEA2-E711BAE8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4000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1  parentheses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2  exponentiation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3  unary + - not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4  * / // %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5  + -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6  comparisons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7  and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8  or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9  conditional expression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AB2AA-AB37-4369-9D51-0BAC3B2F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67D3C-D9EE-405B-83FE-72BC3E70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3875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When in doubt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0E315-9000-4D8E-8D72-781EAF81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4355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Add parentheses. Clear code beats clever code.</a:t>
            </a:r>
          </a:p>
        </p:txBody>
      </p:sp>
    </p:spTree>
    <p:extLst>
      <p:ext uri="{BB962C8B-B14F-4D97-AF65-F5344CB8AC3E}">
        <p14:creationId xmlns:p14="http://schemas.microsoft.com/office/powerpoint/2010/main" val="21408845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19A66-5B79-4DC3-A050-C18CD598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48CAA-F2C6-4D6C-9596-FFC9FDFB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Comparisons can be chained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95C79-E0A7-4613-BF35-898952B5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Python lets one expression express a range cleanly.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269C5-1B1A-4538-963C-7FE6D727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E7633-C72F-4C2B-A3E6-F18BE787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9A8C7-985F-474D-B5FF-11830FCA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953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07200-B80A-49D6-8473-496C222F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ONE EXPRESSION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828B6-D209-4069-AF7B-494A6051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461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0 &lt;= score &lt; 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94625-05A0-44B5-BBD2-94255680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means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01E66-0A54-4A5B-97D5-5A1661C5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953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CF68A-0FA7-4C54-B419-F5B2466C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SAME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8E8FE-0FEC-4915-B93B-AAB6F76C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461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0 &lt;= score and score &lt; 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C0F1A-41BB-46A4-AAD7-F4FEB0BB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84DD2-E9BB-4B23-81B3-69BEEE6D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Read it like English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58E6B-4217-4C19-9888-285C0252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3733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zero is less than or equal to score, and score is less than one hundred.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B40F0-4353-49F7-BCCC-87038E9A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2062B-39EA-4D74-B62D-7F38E419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More than two works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01D0E-73D2-4708-A9C3-88E5F96D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9550"/>
            <a:ext cx="373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 &lt; b &lt; c &lt; d is legal and reads left to right.</a:t>
            </a:r>
          </a:p>
        </p:txBody>
      </p:sp>
    </p:spTree>
    <p:extLst>
      <p:ext uri="{BB962C8B-B14F-4D97-AF65-F5344CB8AC3E}">
        <p14:creationId xmlns:p14="http://schemas.microsoft.com/office/powerpoint/2010/main" val="13350828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31367-5AC8-46FC-8717-87AE80B7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43CA5-AAB5-45FB-9C71-433F522A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and, or, and not are expressions with short-circuiting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9886A-AEE4-4FC4-A539-033A98BC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588AB-6317-4B4F-939D-886D8B25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E72D1-01AB-4341-BFB4-42B45B98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237AB-480E-4AFC-9AF4-D3558344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AND STOPS AT THE FIRST FALSEY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D09B9-963B-4F35-8700-10C4B830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610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if user and user.is_active: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show_account()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83552-D869-4FF8-AB01-B5AAB0B1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953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131C7-6788-428C-92AB-B67D3E57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OR CHOOSES THE FIRST TRUTHY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D5378-92ED-47C5-8172-8CF922FF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461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name = supplied_name or "Anonymous"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7ABCF-F3C5-41B2-89C3-08304637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2A3"/>
          </a:solidFill>
          <a:ln xmlns:a="http://schemas.openxmlformats.org/drawingml/2006/main" w="0">
            <a:solidFill>
              <a:srgbClr val="7752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5F734-7A54-4C88-B7A1-AF14DA71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9075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AB599-0BA2-45A2-BDC5-C94A7F9D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95550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not x flips truthiness and returns a bool.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86F80-D2EE-427E-8E41-CB3B4CA5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EF4D5-D5C5-4F57-BC86-E0FFDF65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86125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80089-E169-46B5-A40B-0398A798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90925"/>
            <a:ext cx="3733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right-hand side may never run. That is both a syntax pattern and a control-flow pattern.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220F1-4670-4781-A643-DFD2783F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76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and / or return an operand, not always True or False.</a:t>
            </a:r>
          </a:p>
        </p:txBody>
      </p:sp>
    </p:spTree>
    <p:extLst>
      <p:ext uri="{BB962C8B-B14F-4D97-AF65-F5344CB8AC3E}">
        <p14:creationId xmlns:p14="http://schemas.microsoft.com/office/powerpoint/2010/main" val="3571877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C4740-DEC2-413F-859F-D021ABC5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2C5A1-D631-4713-AC2E-3D061A43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Assignment binds a name to a value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40DDB-F85A-43F2-8478-7A4ED3E3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D2B98-4FF5-4E29-9FEB-519A9E48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C3F1A-55E4-453A-BB2A-5A72652A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762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98945-4B41-4115-B117-584E0D31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41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ASSIGNMENT FORMS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CBDF0-0ECC-49AA-8827-C00FCC2C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44196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price = 10</a:t>
            </a:r>
          </a:p>
          <a:p xmlns:a="http://schemas.openxmlformats.org/drawingml/2006/main">
            <a:pPr algn="l">
              <a:defRPr sz="17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price += 1</a:t>
            </a:r>
          </a:p>
          <a:p xmlns:a="http://schemas.openxmlformats.org/drawingml/2006/main">
            <a:pPr algn="l">
              <a:defRPr sz="17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name: str = "Ada"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9581A-B5F7-4C42-9DDB-627AA3CB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10BF1-9192-4DC1-B7F5-A2796493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1D2CE-7825-432C-891D-BE5FD19B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030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Assignment: evaluate the right side, then bind the target.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CE69E-6911-43D9-8579-79F9695F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2A3"/>
          </a:solidFill>
          <a:ln xmlns:a="http://schemas.openxmlformats.org/drawingml/2006/main" w="0">
            <a:solidFill>
              <a:srgbClr val="7752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FDC21-48D3-4A03-B7C9-0707D48F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43250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==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47916-C91A-46BB-9567-43C8111F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48050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Comparison: evaluate both sides, then ask whether they are equal.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4BB06-858C-425E-88EB-556ED39C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BEA1B-B572-4180-957E-5B76C165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91000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: str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962F2-51B7-4D38-86DA-5D8C3513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382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Annotation: extra information about the intended type; it does not convert the value.</a:t>
            </a:r>
          </a:p>
        </p:txBody>
      </p:sp>
    </p:spTree>
    <p:extLst>
      <p:ext uri="{BB962C8B-B14F-4D97-AF65-F5344CB8AC3E}">
        <p14:creationId xmlns:p14="http://schemas.microsoft.com/office/powerpoint/2010/main" val="5754390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06894-E2D9-4B5A-A613-9637827C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A0408-1B08-4C1F-9EF2-1AA22196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Unpacking lets one pattern receive many values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0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276BC-80CD-4AFC-BC47-5F6C52E5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A563C-BDE3-41FF-98B1-EE9A8191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72A5B-27E0-4B45-9B08-1E1792A3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8102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FDC36-D7EE-4186-AAA0-38A1AB2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546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TARGET PATTERNS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5C1E7-2D29-493F-BB88-3FC7B393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54673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x, y = point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first, *middle, last = numbers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head, *tail = [1, 2, 3, 4]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DF36A-871B-487E-B359-E06A1FF2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0695D-49BB-4C0F-B1CA-3EF7AFF2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431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The comma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D0A45-BE19-4FB1-9474-064D7395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47925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x, y is a tuple-shaped target pattern, even without parentheses.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400CB-B763-46D5-8A48-947B0947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798DA-DB4F-4EC2-A71D-DC07165E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One star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2C9D0-3584-4D2E-95E7-0DCD5BD1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*middle absorbs the remaining values into a list.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A542B-3D60-4C23-8BA6-5F05574F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unpacking  ::=  target "," target [", ..."]</a:t>
            </a:r>
          </a:p>
        </p:txBody>
      </p:sp>
    </p:spTree>
    <p:extLst>
      <p:ext uri="{BB962C8B-B14F-4D97-AF65-F5344CB8AC3E}">
        <p14:creationId xmlns:p14="http://schemas.microsoft.com/office/powerpoint/2010/main" val="13956520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A37A3-FB8E-45E8-8EAB-282BCC44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57DCD-A1B9-49F4-B331-EB9E18E8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Primary expressions grow left to right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40E87-5165-47A0-BB7A-A2F27915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Start with an atom; then attach .name, [index], or (arguments).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87F3F-1B6F-4CB7-8935-875E6065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CF176-3F46-49CA-B9D5-A30A4E46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BD870-ADC7-419E-A683-62478B52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572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81B2A-C0DC-4A36-9A23-23EDB12D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66925"/>
            <a:ext cx="422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PRIMARY CHAINS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77E7C-76A1-45FF-AEFF-DAB14E3C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4229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user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user.profile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user.profile.name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items[0]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items[1:4]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get_total()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D89EB-5039-4A92-864D-62F1DBEC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09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847D0-3DEC-449D-8703-2F360FC0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3524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primary  ::=  atom</a:t>
            </a:r>
          </a:p>
          <a:p xmlns:a="http://schemas.openxmlformats.org/drawingml/2006/main">
            <a:pPr algn="l">
              <a:defRPr sz="1425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             | primary "." NAME</a:t>
            </a:r>
          </a:p>
          <a:p xmlns:a="http://schemas.openxmlformats.org/drawingml/2006/main">
            <a:pPr algn="l">
              <a:defRPr sz="1425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             | primary "[" slices "]"</a:t>
            </a:r>
          </a:p>
          <a:p xmlns:a="http://schemas.openxmlformats.org/drawingml/2006/main">
            <a:pPr algn="l">
              <a:defRPr sz="1425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             | primary "(" [arguments] ")"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CD512-58ED-4519-A81F-3E51A7F2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43096-9ABB-442E-8DD3-577602D9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The big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64164-464A-441B-B3D5-657C1B47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Many “different” Python expressions are the same grammar move repeated.</a:t>
            </a:r>
          </a:p>
        </p:txBody>
      </p:sp>
    </p:spTree>
    <p:extLst>
      <p:ext uri="{BB962C8B-B14F-4D97-AF65-F5344CB8AC3E}">
        <p14:creationId xmlns:p14="http://schemas.microsoft.com/office/powerpoint/2010/main" val="10253293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240DA6-DDAA-47A0-8533-C7168B08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8666E-A327-482B-BCD0-5721E0B3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A call is parentheses after a callable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73BE7-7250-4976-89FE-56E08BE8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FD732-41E0-4E3F-9E37-4591FEFA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9F12E-AA2E-414F-8866-85571F2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572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8616F-7CC4-4D8A-A071-FB7BEBCA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622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CALL ANATOMY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6C633-2FC0-44C0-9BC4-0E1F85EF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622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send(message, 3, retries=2, *args, **options)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AD12F-BAE2-46B1-A137-BC75D64E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128587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46118-2F79-4D4E-ACEA-D07B2CBE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71700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E13E4-EEF7-4B12-AEFB-4E91E9AE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callable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0A04A-AB0E-4933-915B-809667F2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2000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FC92F-6DAC-44DF-9F76-D16F0142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765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message,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7A88A-0FC8-42EE-8EF5-A6E70076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90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positional arguments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A4E65-F7C8-4C84-AC98-FFB3FAE2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1809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4A333-D373-4567-8AE2-DA5E83A5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retries=2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E16FC-034F-48A9-B7EC-DAF11A4F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95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keyword argument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64AFF-002B-4540-829A-0867529F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10125"/>
            <a:ext cx="1524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752A3"/>
          </a:solidFill>
          <a:ln xmlns:a="http://schemas.openxmlformats.org/drawingml/2006/main" w="0">
            <a:solidFill>
              <a:srgbClr val="7752A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2E7DB-A1A2-4B08-880F-6AB99D4A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863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*args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DD34B-E005-4512-AF2E-BDD8846E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00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unpack positional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A3937-B47D-4AE8-A630-B63D1A6F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**options  →  unpack keyword arguments</a:t>
            </a:r>
          </a:p>
        </p:txBody>
      </p:sp>
    </p:spTree>
    <p:extLst>
      <p:ext uri="{BB962C8B-B14F-4D97-AF65-F5344CB8AC3E}">
        <p14:creationId xmlns:p14="http://schemas.microsoft.com/office/powerpoint/2010/main" val="2563506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347E67-1571-487C-856B-04F96F2C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3C1CA-72C9-4DBB-BD6C-3F3230DE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Collection brackets tell you the container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5B716-C305-4187-9AC1-C095C95A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VALUES &amp;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2F909-C3CC-453B-B7AF-0FB92AEA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2B2E4-385B-4F72-B705-97C5BFAB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D3421-2B85-4F6F-B8F4-1DE7175E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literal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FD13C-5BFB-4BBC-A3A1-03A09F27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526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097E7-0633-48CD-8BA2-CB162368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383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B4B39-A108-4965-B722-644F7646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E3EA1-2342-493F-910A-A92AF27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syntax cue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E8D6C-4AC8-483C-8A7F-D562D707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5D90B-FB76-422A-90BA-E1F74429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[1, 2, 3]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099EF-47EA-401F-BD94-FBD3C4F9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0507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6F8E6-39DA-4B17-8A4E-3B56999B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908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list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C11EA-B43E-4A65-B71D-98FF826B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0507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4542D-339C-41A9-9330-6FF6639D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9080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square brackets; ordered; mutable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7844A-D99F-4546-9984-C24DFBDF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FEE83-F5F1-4DE9-B8B9-F328BE09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(1, 2, 3)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4D0555-9E2B-4C45-920E-29EDA282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4DD52-F2FD-4315-A9E4-A6933406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432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tuple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1D520F-D6B6-4661-B9FC-6A81747B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5752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D6245-ED53-4DB4-9714-BC8C9813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commas; fixed grouping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BFE7E-E1F5-4889-AD94-3F2068B3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71EE65-8720-4F3E-AC11-1B31FB4F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{1, 2, 3}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7114A6-C982-43BE-B884-93AE62F3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997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34E5A8-C747-41D9-92E5-0BBC9FEB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95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7F7311-1AFA-4EC8-A1AE-891DA21D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997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9B3E0A-843C-43DA-96BC-A1DDDBBD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braces; unique values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3F32E9-7C39-4F5D-87F1-A06DFE9F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B91A62-CED0-4623-8BA0-F659966A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{"a": 1}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642A29-FB6D-4F1B-9D02-A542F8F6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624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F01A7-24A7-426A-BF34-FC88FD85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481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dict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7D1EE3-0504-451A-8651-AD2413FC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6242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37EF3F-FD28-4904-AD83-431C7DE2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key : value pairs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AF7985-F93A-4F07-96CD-2912114E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D78468-9A33-4D30-8340-7FCFCFB2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[] / {} / set()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52EBE1-1046-4001-967D-B5A6AB8F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1487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61DD81-0B6B-4207-8EA7-67FAF937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00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empty forms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C5680B-FAC8-441B-B286-D20B1892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1487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8BFE22-27FB-451D-B7EF-0B882C64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0060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{} is an empty dict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D950C0-D75F-4EF7-B8EC-1D098BBA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47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0E6380-4DCA-4B8B-B1FC-1C19705F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982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Comma beats parentheses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DA3DC4-EA63-4291-BE7F-96871EBC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24550"/>
            <a:ext cx="9829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comma creates a tuple: value, is different from (value).</a:t>
            </a:r>
          </a:p>
        </p:txBody>
      </p:sp>
    </p:spTree>
    <p:extLst>
      <p:ext uri="{BB962C8B-B14F-4D97-AF65-F5344CB8AC3E}">
        <p14:creationId xmlns:p14="http://schemas.microsoft.com/office/powerpoint/2010/main" val="10745489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9F0A8-F4B6-401C-A759-C9F06AAD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6C660-3A9C-467B-938B-C21A8D98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23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Statements give code a spine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38A50-C975-4B80-A526-D53F88C5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Now expressions become actions, choices, loops, and blocks.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704850" y="3905250"/>
            <a:ext cx="4476750" cy="953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388C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EC43F-736A-4EB7-905C-E7C139DF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9EA83-C759-4E6F-9B6E-62AB0B80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GRAMMAR LENS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D6E21-AA30-49C2-ADDF-2504F3A3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28003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for item in items:</a:t>
            </a:r>
          </a:p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use(item)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4F29B-A080-44E4-BDC7-5DCFBA41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79CA4-84BC-41A3-BF88-97FA28EE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559576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E4A8B-73B0-4F1D-81D6-4D4B6080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9D884-29B8-400A-9488-BC11BAAC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 statements are simple or compound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4FA03-57A0-4880-8575-CF904BEE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first question when reading a line: does it open a block?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A2482-3B65-4F50-9BB3-E016A17F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AECB1-1107-4055-A827-8121D7CF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60118-AF37-4396-87EA-F02A7865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6B585-4A13-491F-ADF5-78A1F4CC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SIMPLE STATEMENTS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C50BA-04FD-4F0D-85A7-75F2806B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assignment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return / yield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import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raise / assert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break / continue / pass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global / nonlocal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BC49A-9495-4218-9BBB-7CD4C382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D9C6C-6AC1-4838-97A8-C616764D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45B8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45B89"/>
                </a:solidFill>
                <a:latin typeface="Arial"/>
                <a:ea typeface="Arial"/>
                <a:cs typeface="Arial"/>
              </a:rPr>
              <a:t>COMPOUND STATEMENTS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A72A6-2767-4700-BACE-0FE492E7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if / elif / else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for / while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try / except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with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match / case</a:t>
            </a:r>
          </a:p>
          <a:p xmlns:a="http://schemas.openxmlformats.org/drawingml/2006/main">
            <a:pPr algn="l">
              <a:def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def / class</a:t>
            </a:r>
          </a:p>
        </p:txBody>
      </p:sp>
    </p:spTree>
    <p:extLst>
      <p:ext uri="{BB962C8B-B14F-4D97-AF65-F5344CB8AC3E}">
        <p14:creationId xmlns:p14="http://schemas.microsoft.com/office/powerpoint/2010/main" val="340616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16B4B-8B2D-4580-8B50-1DF10A46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88E86-7FDD-4B58-973D-6A657146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A compound statement has a header and a suite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19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78C40-0327-47AA-95DE-0A8DDC7E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E9F9F-729E-4314-A174-F6EBA3E0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D552E-1DD9-41ED-A406-9C7F485B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28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2659B-28CE-4B79-8164-C0CC1305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header  ":"  suite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FE8B8-BD14-4C4D-8D86-382FE529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59EE6-C090-4A62-B65B-EB2CB529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422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INDENTED SUITE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125F4-BECC-46E8-9AEA-BF14E09D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if condition: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statement_1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statement_2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A42B4-01C9-4FBC-8CAC-03DA1BAC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4095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CEC1A-A659-464C-B09B-0BFEE413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33800"/>
            <a:ext cx="3752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SIMPLE SUITE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7C534-0AFC-4845-85B5-61A386C8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3752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if condition: statement_1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CEB3E-7D5A-46A9-A1CA-9B619FBE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Most block errors are missing : or wrong indentation.</a:t>
            </a:r>
          </a:p>
        </p:txBody>
      </p:sp>
    </p:spTree>
    <p:extLst>
      <p:ext uri="{BB962C8B-B14F-4D97-AF65-F5344CB8AC3E}">
        <p14:creationId xmlns:p14="http://schemas.microsoft.com/office/powerpoint/2010/main" val="128971352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501BD-5DB3-40CE-95E9-460AF308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0CACA-7783-45A6-ADAF-F5CF315A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if selects one suite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18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7B57A-5BF3-4743-A202-1E22ECD8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5F84A-8A4E-4801-B66E-7E8E1318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CC9D2-C09B-4CD9-B427-608857EC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00607-F080-46AE-AC1C-9185C07C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if_stmt  ::=  "if" condition ":" block</a:t>
            </a:r>
          </a:p>
          <a:p xmlns:a="http://schemas.openxmlformats.org/drawingml/2006/main">
            <a:pPr algn="l">
              <a:def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              ("elif" condition ":" block)*</a:t>
            </a:r>
          </a:p>
          <a:p xmlns:a="http://schemas.openxmlformats.org/drawingml/2006/main">
            <a:pPr algn="l">
              <a:def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              ["else" ":" block]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6F1A0-D1D2-4FAC-B26A-037FA4C9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095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1ADEA-9C70-4289-B341-CEC40D6A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66925"/>
            <a:ext cx="3752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ONE CHAIN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082C5-016A-4BB7-BBDF-74630FD5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14575"/>
            <a:ext cx="3752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if score &gt;= 90: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grade = "A"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elif score &gt;= 80: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grade = "B"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else: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grade = "C"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B0800-83DF-4F45-86C4-5763C61A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94410-34BD-4E54-A324-A703FC90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Only one branch runs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6F1DD-562C-4D16-A827-FA6A9D5C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Python tests from top to bottom and takes the first true branch.</a:t>
            </a:r>
          </a:p>
        </p:txBody>
      </p:sp>
    </p:spTree>
    <p:extLst>
      <p:ext uri="{BB962C8B-B14F-4D97-AF65-F5344CB8AC3E}">
        <p14:creationId xmlns:p14="http://schemas.microsoft.com/office/powerpoint/2010/main" val="3054051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76245-8E5E-4A49-96C6-4A431FB9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BE41D-C5D0-46A5-8929-A742419B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for repeats for each item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1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C0250-A78E-4D25-A5CF-94FE18ED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CEF9E-CEAB-45E7-AB54-A0EC6A74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1833A-351D-439A-A778-0F72EE30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927A0-5BF5-4709-94C1-581E0B14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for  target  in  iterable  :  block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64C7B-20DA-48AE-8B2E-96AC66E8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095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58742-B2EF-4914-9EE1-A45392CD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66925"/>
            <a:ext cx="3752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LOOP + OPTIONAL ELSE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BCF74-02B5-43D8-9715-843745D0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14575"/>
            <a:ext cx="37528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for name in names: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print(name)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else: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print("finished")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D077E-B4D7-428D-9030-D40E8F66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BBDE9-26C3-4DDF-A3BE-99CBE85F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52875"/>
            <a:ext cx="459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B0255-19C3-4CA4-9360-5F1F71F4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target receives one item on each iteration; it can be a name or an unpacking pattern.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85182-E325-433B-A5E5-939F3557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0C02F-CAD0-4567-B3BF-C4A4A30E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7200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else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F581B-3B88-45AF-9DA3-7A733869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76800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Runs when the loop finishes normally—not when break interrupts it.</a:t>
            </a:r>
          </a:p>
        </p:txBody>
      </p:sp>
    </p:spTree>
    <p:extLst>
      <p:ext uri="{BB962C8B-B14F-4D97-AF65-F5344CB8AC3E}">
        <p14:creationId xmlns:p14="http://schemas.microsoft.com/office/powerpoint/2010/main" val="98308192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0E755-2060-4B9B-A9AC-C29B30EA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3C087-FA20-449D-8103-546176B5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while repeats while a condition is true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1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3108B-749B-4433-A408-FA935007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DF1FE-824F-4C65-B81E-BE1AB5A5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3CB36-A701-466B-B403-ED678B95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B1547-BEA1-4A50-8636-8200F4B3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while  condition  :  block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1D1C5-E57F-45DE-BAC2-98D0DB60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095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AD47F-602A-46BC-B00B-E140E8A2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3752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UPDATE THE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AB715-379A-43C1-A298-FBDD05A6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37528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attempts = 0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while attempts &lt; 3: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try_login()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attempts +=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E6406-B8B8-46E7-9AEC-0F8C3B07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4646"/>
          </a:solidFill>
          <a:ln xmlns:a="http://schemas.openxmlformats.org/drawingml/2006/main" w="0">
            <a:solidFill>
              <a:srgbClr val="C546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C7B16-04D4-4CCE-9A21-4D21B086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005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Loop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AD48A-5AB5-438C-8B6F-30831376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05300"/>
            <a:ext cx="478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 while loop needs a path that eventually makes its condition false—or an explicit break.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E5463-BD1A-4F7A-8C62-6892F6DB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2A3"/>
          </a:solidFill>
          <a:ln xmlns:a="http://schemas.openxmlformats.org/drawingml/2006/main" w="0">
            <a:solidFill>
              <a:srgbClr val="7752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26C40-B70E-4DD8-8E54-A43533CD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72000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Grammar is not enough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11660-D7DB-4E3A-ADDA-72DADF3F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76800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line can be legal but still create an infinite loop. That is a semantic/logic problem.</a:t>
            </a:r>
          </a:p>
        </p:txBody>
      </p:sp>
    </p:spTree>
    <p:extLst>
      <p:ext uri="{BB962C8B-B14F-4D97-AF65-F5344CB8AC3E}">
        <p14:creationId xmlns:p14="http://schemas.microsoft.com/office/powerpoint/2010/main" val="18232533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7349F-00B6-43D2-9653-3E0CCD09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2A00C-BF14-4F6F-B76C-808678EE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break, continue, and pass change loop control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F2741-76E0-4B6C-AC89-6D62814C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A34DA-8BDA-407E-819E-B1D83978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6F83C-748A-4A55-87FD-2286941D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895B8-08B0-4C2F-950A-0FD111F9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BREAK  → LEAVE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AAEE2-1763-4890-B271-C0BCBEFC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for item in items: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if item == "stop":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break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646C4-6E41-495C-828A-2831BD08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87D83-F227-40AD-BBC7-24D06F05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145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CONTINUE  → NEXT ITERATION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5E0F6-874F-4C93-A545-9811B6EA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62200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for item in items: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if item is None: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continue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425CF-323C-4356-9F0B-69EECFD2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89264-D901-4986-BE8A-E4AC2FB3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PASS  → DO NOTHING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EA4FD-3E78-4E33-A706-CBF11BA1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514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def placeholder():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FE9FD-61ED-480E-A31A-21766450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345D3-110A-41CC-BAFE-23DD0914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All three are simple statements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14748-C41C-4A3D-AD72-2A0CC06F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963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They do not create a block. Their meaning depends on the surrounding control-flow structure.</a:t>
            </a:r>
          </a:p>
        </p:txBody>
      </p:sp>
    </p:spTree>
    <p:extLst>
      <p:ext uri="{BB962C8B-B14F-4D97-AF65-F5344CB8AC3E}">
        <p14:creationId xmlns:p14="http://schemas.microsoft.com/office/powerpoint/2010/main" val="5338154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2E311-82CA-45EF-BD8E-D4AE1E8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8B633-CE3C-43A3-981C-F58BFDE5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Comprehensions compress a loop into an expression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18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E5FEE-B080-4B74-AC6E-172D5C17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BF401-A80B-4F26-B345-3B9A52E4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EE7DE-7700-491B-87B1-66C98665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D7C0A-6E84-4D10-B7D1-C8482022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3837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[ expression  for  item  in  iterable  if  condition 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69050-E297-46E3-8819-6BF0EB71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466725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18D18-40C9-49F3-8A82-1CDB2C1E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38550"/>
            <a:ext cx="432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EXPANDED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37498-E151-40FF-BE5F-DDAB78E4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86200"/>
            <a:ext cx="4324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squares = []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for n in numbers: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if n % 2 == 0: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squares.append(n * 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85D06-31D5-4681-9D2A-671714E3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572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F6D1E-B2E6-48FD-BDB7-964E5F29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38550"/>
            <a:ext cx="422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SAME IDEA AS AN EXPRESSION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E309C-F706-44B5-87BA-C88B7FE9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4229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squares = [n * n for n in numbers if n % 2 == 0]</a:t>
            </a:r>
          </a:p>
        </p:txBody>
      </p:sp>
    </p:spTree>
    <p:extLst>
      <p:ext uri="{BB962C8B-B14F-4D97-AF65-F5344CB8AC3E}">
        <p14:creationId xmlns:p14="http://schemas.microsoft.com/office/powerpoint/2010/main" val="125398974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CD537-CDA7-4D79-9BF9-F3BC104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E6F4E-B5C3-413C-990B-78464D79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try / except / else / finally is a structured statement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1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70757-0EDC-4A0A-BAB8-22FEF73A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0D1D6-A426-44C0-B933-DA663D80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F9B5B-8998-403A-B2F3-8B33E215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334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DC7A7-2330-48BB-85DA-4D9B84F1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90750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try:</a:t>
            </a:r>
          </a:p>
          <a:p xmlns:a="http://schemas.openxmlformats.org/drawingml/2006/main">
            <a:pPr algn="l">
              <a:def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    risky_work()</a:t>
            </a:r>
          </a:p>
          <a:p xmlns:a="http://schemas.openxmlformats.org/drawingml/2006/main">
            <a:pPr algn="l">
              <a:def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except ValueError as error:</a:t>
            </a:r>
          </a:p>
          <a:p xmlns:a="http://schemas.openxmlformats.org/drawingml/2006/main">
            <a:pPr algn="l">
              <a:def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    recover(error)</a:t>
            </a:r>
          </a:p>
          <a:p xmlns:a="http://schemas.openxmlformats.org/drawingml/2006/main">
            <a:pPr algn="l">
              <a:def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else:</a:t>
            </a:r>
          </a:p>
          <a:p xmlns:a="http://schemas.openxmlformats.org/drawingml/2006/main">
            <a:pPr algn="l">
              <a:def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    celebrate()</a:t>
            </a:r>
          </a:p>
          <a:p xmlns:a="http://schemas.openxmlformats.org/drawingml/2006/main">
            <a:pPr algn="l">
              <a:def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finally:</a:t>
            </a:r>
          </a:p>
          <a:p xmlns:a="http://schemas.openxmlformats.org/drawingml/2006/main">
            <a:pPr algn="l">
              <a:def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    close_resources()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6AEE1-C267-486C-9952-EA145DCB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5908E-8973-4694-8B34-4A8141B2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95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D9BEF-2E62-44F6-B44D-EFC7A879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protected suite.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3FEF8-24BD-4828-A4D5-FAB45E02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4646"/>
          </a:solidFill>
          <a:ln xmlns:a="http://schemas.openxmlformats.org/drawingml/2006/main" w="0">
            <a:solidFill>
              <a:srgbClr val="C546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ED848-F25D-475B-85D8-9F8635CB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051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except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53A95-9943-4E54-AC1D-A0BEBDD5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09925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 matching exception handler.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012BD-D3AD-4E23-8A23-5E1C622A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147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1DD16-E26D-45DF-8B64-28C074B7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1475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else / finally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06D50-4F02-438A-BB9A-596394A7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1955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Success-only code / always-run cleanup.</a:t>
            </a:r>
          </a:p>
        </p:txBody>
      </p:sp>
    </p:spTree>
    <p:extLst>
      <p:ext uri="{BB962C8B-B14F-4D97-AF65-F5344CB8AC3E}">
        <p14:creationId xmlns:p14="http://schemas.microsoft.com/office/powerpoint/2010/main" val="2090356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2094E-670E-472A-8C85-65E7969A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0F4AB-1D2C-44FB-8BB3-DB9170C9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with wraps setup and cleanup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78010-B9E5-4497-854A-A95C2062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syntax is a header plus a suite; the context manager supplies the lifecycle.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101D2-0E18-4EE2-BE3E-28B09657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03846-80B3-45C1-881B-8222D9CA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CA68B-9995-47C9-8582-4CAA8644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5245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9B8B2-6813-4277-A0FA-BE34EE13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518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CONTEXT-MANAGED BLOCK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F84AD-891D-4B88-8613-19742141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5181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with open("notes.txt") as file: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text = file.read()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# file is closed 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D3676-BCF2-46CA-8015-80A59111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3143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52BF5-3CD9-4F96-A647-E8F6496B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with  expression</a:t>
            </a:r>
          </a:p>
          <a:p xmlns:a="http://schemas.openxmlformats.org/drawingml/2006/main">
            <a:pPr algn="ctr">
              <a:defRPr sz="180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     [as target]</a:t>
            </a:r>
          </a:p>
          <a:p xmlns:a="http://schemas.openxmlformats.org/drawingml/2006/main">
            <a:pPr algn="ctr">
              <a:defRPr sz="180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     :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A4445-A659-447A-9F6D-279B30C2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D166E-6BD7-4A8C-97DC-9E5B2337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Why it is useful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FE131-8903-4A1F-92F8-0316E297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24425"/>
            <a:ext cx="935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block reads like ordinary code while setup and cleanup stay attached to the resource.</a:t>
            </a:r>
          </a:p>
        </p:txBody>
      </p:sp>
    </p:spTree>
    <p:extLst>
      <p:ext uri="{BB962C8B-B14F-4D97-AF65-F5344CB8AC3E}">
        <p14:creationId xmlns:p14="http://schemas.microsoft.com/office/powerpoint/2010/main" val="196869002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E94B8A-5CC1-4272-86D3-F2DF9652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79A2D-AFB5-41B7-994D-10F3FE1F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import binds names from modules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24EDE-FDC4-4F20-81EA-20449EC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1B3C3-04AB-469B-AE30-9679D012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ACF2F-957F-4068-8875-DCE10E27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9FDB4-3F11-48A8-BEF3-F75F3880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41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THREE COMMON FORMS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3FE41-E411-49B4-8377-90F03727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4419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import math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from pathlib import Path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import statistics as stats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50FBB-C092-4BD8-89EE-48597468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B6F15-A12E-4858-B8C7-BB47A958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288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57EA2-47F7-4EBB-94E4-E3E57D1F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54C95-CE0A-441D-9FE0-D7CFCA6B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288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becomes available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0A23D-FCF2-4ACD-9780-6EB79050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765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49EDA-4AB5-4C87-9B85-81C10922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622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import math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A0531-A14A-451A-A62B-636F2A54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15880-0C20-410D-80B9-25BC8661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the name math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88164-EDE1-4D40-BB8D-F5721EDC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9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4D43A-FA16-48A7-B94B-CFC8F9F7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956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from pathlib import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72A8F-7CD9-46A9-9534-0C68AE94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9925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EFC83-259E-4F32-89EB-A479A037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956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the name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D5F65-8BD8-4D8F-9CF3-138E8671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433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D6058-498B-4B0B-B99F-505D8D68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290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import statistics as stats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70BAA8-A88A-4AD8-9ADE-CCB9E410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43325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0B2FF-2D71-4D68-99C7-FC103591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290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the alias stats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B54557-346A-45EE-A1E4-B8FB53D9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dotted_name  ::=  NAME ("." NAME)*</a:t>
            </a:r>
          </a:p>
        </p:txBody>
      </p:sp>
    </p:spTree>
    <p:extLst>
      <p:ext uri="{BB962C8B-B14F-4D97-AF65-F5344CB8AC3E}">
        <p14:creationId xmlns:p14="http://schemas.microsoft.com/office/powerpoint/2010/main" val="146863522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6005E4-8C90-4D5D-83BD-2F8EAA30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38745-A53C-4C96-BB02-B69A010B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match compares structure, not just equality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D1126-E765-4042-9DA7-E7B822FB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It is optional for beginners, but its grammar is worth recognizing when you see it.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8DE53-9EC3-45FA-84B2-8DECCB5D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STATEMENTS &amp; BLOCKS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4E796-F38F-4832-91CA-8CC80CE0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32FA7-9276-4883-BA2C-BB150F57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5715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E7575-759A-43FA-9553-88FBB3F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537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PATTERN MATCHING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DD11F-B283-479F-ADBE-C01363C7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53721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match command: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case ["quit"]: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quit()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case ["open", filename]: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open_file(filename)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case _: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show_help()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C3C0E-987C-4516-8FE8-E2AADBF0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F61B1-C98F-4D28-BB80-548A729E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64A29-4E25-423B-A6FA-E8D2E654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003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subject is evaluated once.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1E59D-A670-4C23-9660-07193AE8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1FF77-FFB5-4551-BED1-2FFEC732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FC607-4F55-4200-8543-13C81F93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528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Patterns describe shapes that may bind new names.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8DCEC-E9B8-41EE-BCCC-1AC7F0E2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2A3"/>
          </a:solidFill>
          <a:ln xmlns:a="http://schemas.openxmlformats.org/drawingml/2006/main" w="0">
            <a:solidFill>
              <a:srgbClr val="7752A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245BC-3190-4C05-88C9-0547B77B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9100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_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C64CF-E9E5-4B5A-B2D7-139F8FA8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958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Wildcard pattern: matches anything without binding.</a:t>
            </a:r>
          </a:p>
        </p:txBody>
      </p:sp>
    </p:spTree>
    <p:extLst>
      <p:ext uri="{BB962C8B-B14F-4D97-AF65-F5344CB8AC3E}">
        <p14:creationId xmlns:p14="http://schemas.microsoft.com/office/powerpoint/2010/main" val="190299434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4D68C-7CA9-4440-805E-69B48419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05D45-AE06-40BD-A902-5BFC66C1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23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Functions name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D9CDF-3ED0-4ADF-881C-D7DACDAD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Definitions introduce parameters, return paths, and new scopes.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704850" y="3905250"/>
            <a:ext cx="4476750" cy="953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388C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E341A-89CA-4B55-ABC4-86470C73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F6C0B-CBFB-46F0-8405-3196DE71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GRAMMAR LENS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DF84B-A648-40A3-8138-817D332F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28003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def greet(name):</a:t>
            </a:r>
          </a:p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return f"Hi {name}"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B689A-ED24-4703-82FB-5170A6FA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A688B-68BE-4F22-87CB-41E4E7CB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61571430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A51E0-C178-4029-B850-A7F38F08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8FF00-C341-4B6D-A6E9-B81548A4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def creates a function object and a block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1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EAA9F-FB0F-4FEC-94D3-AD91167B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F0707-A085-43D5-B60A-66346ACD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C8B50-E122-461D-A4B6-1AC40F09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542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13A32-B427-41AB-9751-FC86166C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def  NAME  ( parameters )  [-&gt; expression]  :  block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28CC5-6394-4D27-8E53-308A9DA7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37147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E26F3-DB58-454D-905C-B6FF9CAE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66925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FUNCTION 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AC72D-5FE7-4D56-B0C3-A76D8873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14575"/>
            <a:ext cx="33718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def greet(name):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"""Return a greeting."""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return f"Hello, {name}!"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5A1C6-0F0C-4187-8E00-6136A48F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89FD5-FF4B-497E-96A7-1884BD9E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516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Definition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77BC3-237D-4FF2-AB3A-AB570776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38675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def statement builds and binds the function; the body runs later when called.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20501-4577-4221-BEA1-DA058D3F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196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CC45F-80F7-48D3-84EB-B25A7C31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619625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Call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DC995-9CB7-414D-B35E-0F97F0E9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24425"/>
            <a:ext cx="3543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greet("Ada") supplies an argument and enters the function's suite.</a:t>
            </a:r>
          </a:p>
        </p:txBody>
      </p:sp>
    </p:spTree>
    <p:extLst>
      <p:ext uri="{BB962C8B-B14F-4D97-AF65-F5344CB8AC3E}">
        <p14:creationId xmlns:p14="http://schemas.microsoft.com/office/powerpoint/2010/main" val="33711117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D5BB6F-4586-452A-B672-903D5FDE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0770E-32CB-4D2E-9145-4BF9BA10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Parameters are a small grammar of their own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A6B7D-BB1B-41A3-928C-2EE89617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53E7B-9A9F-45CE-BE64-658FBEBB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D24ED-AC42-4F01-82E7-7DB7BA89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6858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8CD90-375F-4A83-A9B4-094F3E82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14550"/>
            <a:ext cx="651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ONE SIGNATURE, SEVERAL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C01B8-116F-4161-8DBC-3C3FFE7C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62200"/>
            <a:ext cx="6515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def build(a, b=0, /, c=1, *, verbose=False, **extra):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B84F6-E009-47D8-8DF7-9293E7C1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00DDC-2D6E-453F-B5C6-D9BF9FC1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00475"/>
            <a:ext cx="262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syntax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5865F-5DA3-46F4-A3BB-92082F1E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14750"/>
            <a:ext cx="4762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CB7F7-90DF-494F-ACEC-B194C80A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800475"/>
            <a:ext cx="453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CDF1A-DAAC-4D18-AED4-3993817E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2432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0A19D-ECE9-4635-867A-7ADD4141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10050"/>
            <a:ext cx="262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FEAB6-45F9-4985-A79E-8373BE08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24325"/>
            <a:ext cx="4762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B7F33-4D78-43D3-BCBC-05D26F17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210050"/>
            <a:ext cx="453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positional or keyword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9F794-D98C-4C9E-AC48-16965E5F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33900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D8DD3-CC0D-4DB1-A924-369EDC4E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19625"/>
            <a:ext cx="262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b=0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5BB42-4E68-4F44-BFCA-94EE0BDD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533900"/>
            <a:ext cx="4762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1C44D-2A5E-40C0-B571-D52A80E5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619625"/>
            <a:ext cx="453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default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B8DCE7-7834-4FF6-B4F8-A0813A12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4347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E7671E-15FC-44CC-928D-D44AEFF4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29200"/>
            <a:ext cx="262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A9213-2225-4538-8D9D-8EE5F7C7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43475"/>
            <a:ext cx="4762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BF6AAB-037D-428B-91B1-7AF62B74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029200"/>
            <a:ext cx="453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everything before is positional-only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EE7EE0-5EF3-44A5-ABA2-BCA7D67B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E936CC-5B9A-4AF0-B589-AAF48299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38775"/>
            <a:ext cx="262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*args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FAA0AC-90D0-45CD-8A76-DF718851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353050"/>
            <a:ext cx="4762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27EE9F-EFEE-4A0F-B020-F944C27E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438775"/>
            <a:ext cx="453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collect extra positional arguments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EF2639-BF33-4E71-B5C0-F138724A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571B1E-E5B4-4C6E-9FCC-B65F5EC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848350"/>
            <a:ext cx="262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DFCF49-88B2-4804-B80F-CB4DDC73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762625"/>
            <a:ext cx="4762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C685AB-5AB8-4D41-8A05-9A6763FE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848350"/>
            <a:ext cx="453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everything after is keyword-only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316042-5043-46C1-BCE7-700425EB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72200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40F86-9D16-4492-BB8F-EB875D02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257925"/>
            <a:ext cx="2628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**kwargs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91DADA-24FB-46A0-8E8E-8031090B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172200"/>
            <a:ext cx="4762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947389-2936-40DF-A870-550B09F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6257925"/>
            <a:ext cx="453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collect extra keyword arguments</a:t>
            </a:r>
          </a:p>
        </p:txBody>
      </p:sp>
    </p:spTree>
    <p:extLst>
      <p:ext uri="{BB962C8B-B14F-4D97-AF65-F5344CB8AC3E}">
        <p14:creationId xmlns:p14="http://schemas.microsoft.com/office/powerpoint/2010/main" val="193020685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675CC-0B29-4478-8EBE-66F9D235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2E8E0-AB73-46A0-843D-952D1CC1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return exits the function with a value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62C89-C628-455A-A2DD-2C875328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45B00-9DD3-4CAC-B2A4-55E0A41E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7658A-71BB-4A2F-8BE2-A8F4447E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5429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0D801-DB7A-4519-813F-3C4F2465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09800"/>
            <a:ext cx="508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RETURN PATH + ANNOTATIONS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07A16-E8A6-46F2-9831-FE742526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57450"/>
            <a:ext cx="5086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def add(a: int, b: int) -&gt; int: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"""Add two integers."""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return a +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87A47-B18D-4906-A809-F48014E4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E35F2-3EBB-40D2-B13C-95BF2E9B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5BFDE-C03A-4597-AC0C-D25E2B25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Stops the current function and sends a value to the caller. Bare return means None.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C7287-015B-4727-9D59-946E31FF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8612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6F6D-58FF-440C-A141-311414BF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8612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annotations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8A17D-BB4B-4DBA-BD92-92FBD82F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90925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syntax after : and -&gt; records intent. Python does not enforce it by itself.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DF53F-855A-4C20-9531-759AF89E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0A0C3-5CD3-4429-BA0B-3DB4BD30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docstring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B70A9-8702-4F00-A5BC-4D57E452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81550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 string as the first body statement becomes the function's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96158431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68E2B-1160-4367-A824-5EE5766B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7F488-D255-4320-87B0-F1255910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Scope is where a name can be found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856F4-CC62-4932-9036-10B36C99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Python searches names through nested regions: Local → Enclosing → Global → Built-in.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2805C-5621-4140-9194-7876FF74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97642-99C0-408A-9787-E3EB4657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C7355-433B-47C6-A35F-DDE42714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23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50B34-F2CE-4524-BD09-2E9F6A8E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GLOBAL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50ED4-8CC9-4CBA-BAD3-F3C838C3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14625"/>
            <a:ext cx="5524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F0074-F4AE-44A5-8164-6A0508F6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05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45B8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45B89"/>
                </a:solidFill>
                <a:latin typeface="Arial"/>
                <a:ea typeface="Arial"/>
                <a:cs typeface="Arial"/>
              </a:rPr>
              <a:t>ENCLOSING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7F251-398A-4E0C-8C2A-2D214279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86125"/>
            <a:ext cx="3714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88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F010E-8CA8-484F-84F0-BCAC7E44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766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D8B6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D8B62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C637C-BE14-4264-9905-88241744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10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name =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12D69-C658-4869-9E3E-44D410B4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5BDB8-5BDC-4E94-A4D7-840044B9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955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EXPLICIT REBINDING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64137-A20B-4284-ACA9-550C7A1E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175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global total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nonlocal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1980E-5BB9-484E-B9B6-24B84127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2A3"/>
          </a:solidFill>
          <a:ln xmlns:a="http://schemas.openxmlformats.org/drawingml/2006/main" w="0">
            <a:solidFill>
              <a:srgbClr val="7752A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44126-B29A-4536-A463-F0B13C4A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386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Important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9FDE6-2C84-4F21-AC9E-0539D155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4342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 name is not a box with a permanent type. It is a binding in a scope.</a:t>
            </a:r>
          </a:p>
        </p:txBody>
      </p:sp>
    </p:spTree>
    <p:extLst>
      <p:ext uri="{BB962C8B-B14F-4D97-AF65-F5344CB8AC3E}">
        <p14:creationId xmlns:p14="http://schemas.microsoft.com/office/powerpoint/2010/main" val="113034318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9367B-03E6-4E5F-9E3F-543B24DB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A948D-6FE6-440D-B1F4-7BD1FD05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Functions are values: lambda and callbacks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18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43E07-B573-4E5E-9121-ED2F0E06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8AB9B-0D54-4497-B55F-EDF571E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CBC24-769B-4C2E-8F0C-0F006605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715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CF094-4BF4-4148-B811-1997FCBE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537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A FUNCTION PASSED AS A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ED1A0-11B0-4393-A2F0-F526F0F3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5372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names = ["Ada", "Grace", "Lin"]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sorted(names, key=lambda s: len(s))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0515B-857C-49CC-97F3-6578D2E6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DE014-806C-48FE-A419-E9E41331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lambda  parameters  :  expression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C3B76-390E-4E22-9A52-ACF756E4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C6CA9-9449-47BE-A60F-9C73A17A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24375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One expression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163AC-AFEF-4F70-9A7B-E9763BE3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29175"/>
            <a:ext cx="963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lambda is useful for short behavior. Use def when the logic deserves a name or multiple statements.</a:t>
            </a:r>
          </a:p>
        </p:txBody>
      </p:sp>
    </p:spTree>
    <p:extLst>
      <p:ext uri="{BB962C8B-B14F-4D97-AF65-F5344CB8AC3E}">
        <p14:creationId xmlns:p14="http://schemas.microsoft.com/office/powerpoint/2010/main" val="107091674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737B4-773E-43D1-9F92-8DAC8663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0E2E2-12E1-4564-BE66-BFE00A7B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A decorator is syntax placed above a def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0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EBBA6-1084-472D-BF82-1F87CC34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89ED0-44C3-40B9-AC42-7E5258BB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C0538-E228-4DD4-9387-3FFF7C68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476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14D6C-8E91-4DD9-8E39-C527D7E8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DECORATED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D46F0-ED4A-4B3A-90BE-7CF5D287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41338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@timer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def load_data():</a:t>
            </a:r>
          </a:p>
          <a:p xmlns:a="http://schemas.openxmlformats.org/drawingml/2006/main">
            <a:pPr algn="l">
              <a:def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return read_file()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7EF72-5ACD-42EE-84BC-F88E8E4C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is conceptually similar 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881AA-F356-4C5E-B90A-B6AA3C47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095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EBF00-9770-47AD-A727-93013494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3752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REBINDING AFTER DEFINITION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8599F-1ADD-40AF-902B-C3A6C2C9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3752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def load_data():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return read_file()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load_data = timer(load_data)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8CD96-386D-4787-BA9A-DC6ACDC3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2A3"/>
          </a:solidFill>
          <a:ln xmlns:a="http://schemas.openxmlformats.org/drawingml/2006/main" w="0">
            <a:solidFill>
              <a:srgbClr val="7752A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F790D-2CC9-44E2-9648-8167B92D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954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@ expression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25EFD-B9EF-455E-9941-C33070DC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24425"/>
            <a:ext cx="954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expression after @ is evaluated, then applied to the function object.</a:t>
            </a:r>
          </a:p>
        </p:txBody>
      </p:sp>
    </p:spTree>
    <p:extLst>
      <p:ext uri="{BB962C8B-B14F-4D97-AF65-F5344CB8AC3E}">
        <p14:creationId xmlns:p14="http://schemas.microsoft.com/office/powerpoint/2010/main" val="106673651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8143E3-FD9C-4AA1-AB6E-E1FBCF96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2D1EF-8542-49E5-87EB-3511AA60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yield pauses a function into a generator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C84C1-32CF-4CDA-AC72-8CF82A4A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FUNCTIONS &amp;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09E58-4C9C-43F2-B2FE-01E89F33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7F6FA-10C4-462D-9EEA-907046D8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857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15F5F-AE36-4305-8D26-7803AFCC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GENERATOR FUNCTION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F4BAB-6186-4C45-A1F3-37CBCE4E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14575"/>
            <a:ext cx="45148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def count_up_to(limit):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n = 1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while n &lt;= limit: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yield n</a:t>
            </a:r>
          </a:p>
          <a:p xmlns:a="http://schemas.openxmlformats.org/drawingml/2006/main">
            <a:pPr algn="l">
              <a:def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n += 1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6477000" y="3143250"/>
            <a:ext cx="323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88C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A2EF2-E22D-4B6E-BE39-BBD7944E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765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95DD1-85BE-45DC-89CF-D4883037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765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AC69A-B6CD-4C31-A787-7CCEE048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1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call def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0874D-D9FB-439E-A76E-4BDEB182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1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D8B6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8B62"/>
                </a:solidFill>
                <a:latin typeface="Arial"/>
                <a:ea typeface="Arial"/>
                <a:cs typeface="Arial"/>
              </a:rPr>
              <a:t>next()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3D9AE-3D35-40E3-B2D1-ED279FB0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pause → value → resume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733E8-7E22-40FB-BC96-6DF3F0C7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FB580-037B-4731-A406-E5EF7EFD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24375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Syntax clue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D368C-BE64-4DAA-A10F-37D04917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29175"/>
            <a:ext cx="392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yield is allowed where an expression can appear, but it changes the kind of function you create.</a:t>
            </a:r>
          </a:p>
        </p:txBody>
      </p:sp>
    </p:spTree>
    <p:extLst>
      <p:ext uri="{BB962C8B-B14F-4D97-AF65-F5344CB8AC3E}">
        <p14:creationId xmlns:p14="http://schemas.microsoft.com/office/powerpoint/2010/main" val="121708148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79A9D-B7CB-4E50-97A2-6E0F061F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OBJECTS, CLASSES &amp;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B36A4-601E-469E-BD0B-C430A5B8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23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Objects hold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5B08F-4425-45BA-85E5-290F2716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final stretch: classes, protocols, and the errors that reveal grammar.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704850" y="3905250"/>
            <a:ext cx="4476750" cy="953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388C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324AE-6936-4E36-947A-2198DBAA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EB390-14DC-4EC2-831E-FFDB070E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GRAMMAR LENS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46883-84EA-46D2-AC8F-CCB12B08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28003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class User:</a:t>
            </a:r>
          </a:p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def __init__(self):</a:t>
            </a:r>
          </a:p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...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A2F84-5E52-418E-8B96-E70479FC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OBJECTS, CLASSES &amp; ERRORS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FAA60-2AC0-451E-8C2B-444486EB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40869526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4BA81-D652-4241-8A31-F0F5F39B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OBJECTS, CLASSES &amp;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F045F-3D72-4221-9158-BA65F10D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class is a compound statement that creates a type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18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A83CD-CEF9-4B7F-92E9-430EB51C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OBJECTS, CLASSES &amp;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011E4-02D4-47C0-9FB2-6CE4CBC9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716EA-C469-4ECA-98B7-2C639323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5334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CD674-6D60-419A-8585-891AB391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461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class  NAME  [(bases)]  :  block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A386B-4C9F-4B05-BFFA-5EBE5498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57375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88569-9AA4-4A54-BA91-3998558C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71675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CLASS BODY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874E6-F1E6-4E6E-83A7-9E1FF9EA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19325"/>
            <a:ext cx="3371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class User:</a:t>
            </a:r>
          </a:p>
          <a:p xmlns:a="http://schemas.openxmlformats.org/drawingml/2006/main">
            <a:pPr algn="l">
              <a:def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def __init__(self, name):</a:t>
            </a:r>
          </a:p>
          <a:p xmlns:a="http://schemas.openxmlformats.org/drawingml/2006/main">
            <a:pPr algn="l">
              <a:def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self.name = name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def greet(self):</a:t>
            </a:r>
          </a:p>
          <a:p xmlns:a="http://schemas.openxmlformats.org/drawingml/2006/main">
            <a:pPr algn="l">
              <a:def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return f"Hi {self.name}"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67C88-E748-4E85-94AA-401EA8FE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38F19-449A-4D88-B031-4B7734C6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516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Class body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0FB16-8331-4F76-AE0E-583D9A48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516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indented suite runs while the class is being created; defs inside it become methods.</a:t>
            </a:r>
          </a:p>
        </p:txBody>
      </p:sp>
    </p:spTree>
    <p:extLst>
      <p:ext uri="{BB962C8B-B14F-4D97-AF65-F5344CB8AC3E}">
        <p14:creationId xmlns:p14="http://schemas.microsoft.com/office/powerpoint/2010/main" val="210971272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A725C-0177-4387-BDEA-D7A0CC84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OBJECTS, CLASSES &amp;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C4C3A-DF37-41B1-802F-96970C20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self is the first argument to an instance method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66D51-3572-40F2-9E55-ADAADF70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OBJECTS, CLASSES &amp;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D3408-14AA-40F7-9615-54323D37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B2F14-F7ED-47AB-B469-C9DE0585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5995F-4C50-4475-BE6D-348BE651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57425"/>
            <a:ext cx="3752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CALL THROUGH AN OBJECT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42C66-42B6-4B3D-85D4-FDC1EA32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5075"/>
            <a:ext cx="3752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account.deposit(5)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D2DFF-B860-4C81-9655-5080B5BE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roughly becomes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A1623-CE49-4859-91E0-56DB2E16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9E2BA-4A61-4B68-85B7-193D514A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INSTANCE PASSED EXPLICITLY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3C22E-BC56-4865-8364-003A22DA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Account.deposit(account, 5)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AA86B-CB3C-4ACA-B5E2-E8968E05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60FAA-2283-491F-854B-D19D95E6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Inside the method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E67A9-A619-44FF-A8BA-0CAD480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self is the object that received the call. self.name reads an instance attribute.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67A76-843B-4F50-B4DC-E6D52AD7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EC4F7-A179-4C2A-8EEC-6C568676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No magic keyword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30281-C9FE-4A45-B655-CDD9C143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1955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self is a naming convention for an ordinary parameter.</a:t>
            </a:r>
          </a:p>
        </p:txBody>
      </p:sp>
    </p:spTree>
    <p:extLst>
      <p:ext uri="{BB962C8B-B14F-4D97-AF65-F5344CB8AC3E}">
        <p14:creationId xmlns:p14="http://schemas.microsoft.com/office/powerpoint/2010/main" val="25012757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C4649-F7EE-469C-84A3-63A616D7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OBJECTS, CLASSES &amp;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DF92C-D61B-4745-B690-E6F309E5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Inheritance changes lookup; super() continues the chain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18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C802D-A026-4A5B-9350-56B13BCC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OBJECTS, CLASSES &amp;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98B36-FC3D-4A9C-9668-A4D8FC33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97F6A-E746-40BD-9777-79390848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54768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7709F-8C38-464E-B758-1B11C367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971675"/>
            <a:ext cx="5133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BASE CLASS + SUBCLASS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D7B9B-E089-4F41-86CA-E6BC4A78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19325"/>
            <a:ext cx="51339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class Animal: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def speak(self):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return "..."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class Dog(Animal):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def speak(self):</a:t>
            </a:r>
          </a:p>
          <a:p xmlns:a="http://schemas.openxmlformats.org/drawingml/2006/main">
            <a:pPr algn="l">
              <a:def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return super().speak() + " woof"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1735F-7E13-413B-A61A-8705E51B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04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3DD57-5390-43A6-BB75-77347341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Dog  →  Animal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AA1A2-F996-4994-86BF-5CD5299E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2A3"/>
          </a:solidFill>
          <a:ln xmlns:a="http://schemas.openxmlformats.org/drawingml/2006/main" w="0">
            <a:solidFill>
              <a:srgbClr val="7752A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E7A10-D736-438F-9C47-2267C546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242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super()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C03D6-8478-4829-AD4E-941448F4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2905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Ask the next class in the method-resolution order for the behavior.</a:t>
            </a:r>
          </a:p>
        </p:txBody>
      </p:sp>
    </p:spTree>
    <p:extLst>
      <p:ext uri="{BB962C8B-B14F-4D97-AF65-F5344CB8AC3E}">
        <p14:creationId xmlns:p14="http://schemas.microsoft.com/office/powerpoint/2010/main" val="139227321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61B37E-6945-4251-8A35-7C3100E5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OBJECTS, CLASSES &amp;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A8FA4-535F-4F33-BEDC-A3A66914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Syntax errors, runtime errors, and logic errors are different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BD932-AABE-4E3C-BE36-0B0A192D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OBJECTS, CLASSES &amp;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783EE-3FE7-4998-9376-90FB4B85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65AD1-6336-4E30-BA73-48D63DCD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1B455-00D9-4019-9C7C-643C5EEB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BC19B-3D98-493D-A5C5-E1EF304A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2CEF2-177A-4FBD-A73D-9420A715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76475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it appears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3666A-0402-40CA-9DE8-662FAE4F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7EFD1-0BE5-46B9-9304-C9964A1E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76475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C0B12-4B5A-4972-9B13-5F0CDFC4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AA976-88AA-42BB-9DCD-7132F494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SyntaxError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E058F-69B7-424D-A877-53B32722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3370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0560E-59C5-40D3-BEBA-8A145A7D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19425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parser cannot build structure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92D5C-4396-4C39-A91E-AFA508C8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F1483-3D41-4C90-A42F-214B260F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19425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if x &gt; 2  # missing 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8ECB5-C399-4331-A90C-8A81FF35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021BD-0AB5-4868-A321-17F38700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Runtime 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84C47-7F93-4102-B4D9-6FF17973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43D4B-3A74-41F1-91B5-D38D5168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62375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legal code fails while running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E916B-CF5A-4331-88C1-5CC48819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D8FE7-DE52-4398-81EC-CD15424D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62375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10 /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5EADA3-951B-4C05-8677-F43B1BDB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9EE007-D76A-49E5-905A-9891ED1C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Logic error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0ABE0D-204C-4107-9E5F-FE39250B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1960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FE9F8-0013-4BBF-A80A-197E9D72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05325"/>
            <a:ext cx="339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legal code runs but is wrong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730F94-193C-4AAE-AE97-D39AA49F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ED2E4C-4988-4F3A-9B00-63BB8E50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05325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using + instead of *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3BED76-39BF-4FE7-BAE1-369675A3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4646"/>
          </a:solidFill>
          <a:ln xmlns:a="http://schemas.openxmlformats.org/drawingml/2006/main" w="0">
            <a:solidFill>
              <a:srgbClr val="C5464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0CDF8A-43D5-4417-9814-8ED91FDF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992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Debugging order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A9E0CA-110A-4D44-AD16-37040E17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38800"/>
            <a:ext cx="992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First make the shape legal. Then make the behavior correct.</a:t>
            </a:r>
          </a:p>
        </p:txBody>
      </p:sp>
    </p:spTree>
    <p:extLst>
      <p:ext uri="{BB962C8B-B14F-4D97-AF65-F5344CB8AC3E}">
        <p14:creationId xmlns:p14="http://schemas.microsoft.com/office/powerpoint/2010/main" val="190302575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8FBF65-0921-44D3-BF33-45831736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OBJECTS, CLASSES &amp;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B4446-9676-44A8-9823-A6B8889B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Read a traceback from bottom to top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99267-DF85-485C-ADF3-D626CF7E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bottom line tells you the exception type and message; the frames above show the path.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3B4F0-9998-4132-B883-371C03F2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OBJECTS, CLASSES &amp; ERRORS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6F310-DA1D-4C85-A00F-A3B8BF0B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1610D-774F-4DF6-A9E4-9994F3EE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762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3AA29-7C8C-42DF-91B9-6259E683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641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TRACEBACK ANATOMY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54739-A154-4125-AEED-F3E25C46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14575"/>
            <a:ext cx="64198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Traceback (most recent call last):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File "app.py", line 8, in &lt;module&gt;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total = divide(10, 0)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File "app.py", line 4, in divide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return a / b</a:t>
            </a:r>
          </a:p>
          <a:p xmlns:a="http://schemas.openxmlformats.org/drawingml/2006/main">
            <a:pPr algn="l">
              <a:defRPr sz="12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ZeroDivisionError: division by zero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A74A2-79D2-480A-849D-ACDD4BB4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4646"/>
          </a:solidFill>
          <a:ln xmlns:a="http://schemas.openxmlformats.org/drawingml/2006/main" w="0">
            <a:solidFill>
              <a:srgbClr val="C546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870DF-A218-41A3-A19D-6DE04941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1  bottom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2F4A2-3251-4058-ABC5-4B087E55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955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What failed?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7F62A-0489-4D25-B2BC-CC6AF2F4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7D730-18F6-4CC2-9AED-57B03B11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956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2  file + 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30960-715E-4982-8F8B-ED6263D1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04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Where did it fail?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CEA77-0D47-4DEE-A016-803C1B93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A67C8-84B0-4B37-8A12-E59000E4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3  frames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988C0-B2BF-4FF7-A6B8-6B98AAFA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How did execution get there?</a:t>
            </a:r>
          </a:p>
        </p:txBody>
      </p:sp>
    </p:spTree>
    <p:extLst>
      <p:ext uri="{BB962C8B-B14F-4D97-AF65-F5344CB8AC3E}">
        <p14:creationId xmlns:p14="http://schemas.microsoft.com/office/powerpoint/2010/main" val="158886322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98470-53B4-4B48-B9BF-55311E7C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D89EB-CF62-4BED-8AC5-E2A5C552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Repair the grammar: pause before looking at the fixes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506C5-BDE9-407D-93CD-74B514F1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For each line, identify the missing or misplaced token.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61DE3-963C-44AB-AA58-E0A6B30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32345-93FD-44EB-8E1D-09036507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9468C-0CE5-48CF-ADC8-B987E8F9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6E0F8-3C84-4429-9FB6-43A46919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FIND THE SYNTAX 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5918D-31CC-4FF6-A399-BD9FC98C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4610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1  if ready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2  for x items: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3  def add(a, b)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4  print("hello"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5  class User</a:t>
            </a:r>
          </a:p>
          <a:p xmlns:a="http://schemas.openxmlformats.org/drawingml/2006/main">
            <a:pPr algn="l">
              <a:def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694F6-B3FA-40BF-AEB2-79A0975E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095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1D749-34D4-40FF-893D-67AB1128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EF25B-FC94-4BA0-9D59-FDD0E2E7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5750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□ Does a header need :?</a:t>
            </a:r>
          </a:p>
          <a:p xmlns:a="http://schemas.openxmlformats.org/drawingml/2006/main">
            <a:pPr algn="l">
              <a:defRPr sz="15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□ Is the keyword complete?</a:t>
            </a:r>
          </a:p>
          <a:p xmlns:a="http://schemas.openxmlformats.org/drawingml/2006/main">
            <a:pPr algn="l">
              <a:defRPr sz="15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□ Is in missing?</a:t>
            </a:r>
          </a:p>
          <a:p xmlns:a="http://schemas.openxmlformats.org/drawingml/2006/main">
            <a:pPr algn="l">
              <a:defRPr sz="15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□ Are delimiters balanced?</a:t>
            </a:r>
          </a:p>
          <a:p xmlns:a="http://schemas.openxmlformats.org/drawingml/2006/main">
            <a:pPr algn="l">
              <a:defRPr sz="1575" b="0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□ Is the suite indented?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45CAB-375A-4832-B069-9E05DBBE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B6474"/>
                </a:solidFill>
                <a:latin typeface="Arial"/>
                <a:ea typeface="Arial"/>
                <a:cs typeface="Arial"/>
              </a:rPr>
              <a:t>Answer on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4367983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DF52FC-FA17-49CD-ACB5-28F0A5A5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A3ED1-FB85-40D9-917D-F7A00B11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The repairs reveal five reusable grammar patterns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1EC2F-6702-49BC-965E-AE7BFACF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E9D3D-8CB5-44E5-B6E0-99B6E7B1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F7FAE-BA3E-4E35-AA25-47A7072F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9F79A-43E9-4BC3-B8EF-92993FAC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broken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FB211-5814-4412-800C-1D30E6C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50776-8221-456A-843B-42FD7E15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383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repair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3CE1F-DCB6-45FB-8BF0-06B070C1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FDF39-A760-455D-81DA-54754A9F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38350"/>
            <a:ext cx="339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0F51D-FDE1-461A-9D75-D83C81F4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2225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7DDBC-F917-4CD5-902E-C9E412F7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if 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8D45D-FC78-44C4-AB4A-7728EB50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6F1B0-557E-4D31-BF0A-4EFC7F20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if ready: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15D2F-65E6-4B50-A295-9040FE3C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62225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D1DCB-BEFB-45FC-9828-68E44FC5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339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header ends with 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2783F-4434-4B71-B0EA-A8F962D0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0544C-75AB-460C-89BD-F5A66218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for x items: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653EB-3CEE-4C2F-9B43-5CCBCC0D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71825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F4591-EA83-4645-A054-5375EF55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575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for x in items: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4AC46A-7E47-43EB-B9EE-D5AA8009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71825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9B9B5-F182-405B-A53C-DCC4BDE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57550"/>
            <a:ext cx="339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for needs 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4F04B-E722-436A-84E3-13F2DCA3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BEAF75-467E-4A14-B3DC-97FD558C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def add(a, b)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EC3498-B240-4F6C-B35B-A43A8EF0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81425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BF6F2-9296-4400-9989-CE6AB479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671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def add(a, b):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3C2829-04F1-4258-9A96-5A461E98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81425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8CE57E-48C2-42F9-9759-F85F949B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67150"/>
            <a:ext cx="339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def opens a suite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F739ED-7CA1-44DE-96E4-E59F8FF0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0BE658-B912-49EB-AB8E-0F90D99A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print("hello"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92C10B-E40A-4CB9-92A6-B5AA224F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5780AC-62C8-41C3-A915-A063EAE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767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print("hello")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AC52F7-6934-445B-B974-0FB936C8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91025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089DF5-18D2-4BD9-9AEB-C255A3BE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76750"/>
            <a:ext cx="339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delimiters pair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3120C3-57AF-42CC-9091-12E925C4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4999EE-8913-4D70-9105-0C4ACA6A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class User / pass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6E42DE-457B-4EC3-93EF-1DB57A7E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00625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688211-DB2A-47F1-B7E4-DCE68AF7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863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class User:\n    pass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37496D-C005-4E8A-B896-5AE636EF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00625"/>
            <a:ext cx="361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EAA421-2E1D-4499-8A71-0F23505D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86350"/>
            <a:ext cx="339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B1020"/>
                </a:solidFill>
                <a:latin typeface="Courier New"/>
                <a:ea typeface="Courier New"/>
                <a:cs typeface="Courier New"/>
              </a:rPr>
              <a:t>suite is indented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BCAC42-143B-48DA-83C8-B0699D59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95C84A-5AEB-45E4-95AE-FFBF8FD2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The parser is your pattern checker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648D26-2944-4961-9DF8-14A12E1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9639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Read the error location, then compare the line to a known grammar shape.</a:t>
            </a:r>
          </a:p>
        </p:txBody>
      </p:sp>
    </p:spTree>
    <p:extLst>
      <p:ext uri="{BB962C8B-B14F-4D97-AF65-F5344CB8AC3E}">
        <p14:creationId xmlns:p14="http://schemas.microsoft.com/office/powerpoint/2010/main" val="209011974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394309-CF44-4276-9838-54548118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6BF4A-1E16-4B1A-B3C2-39EC5616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Mini build: a small order program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666750" y="1257300"/>
            <a:ext cx="10858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A350E-1C61-498B-8A58-65E96CF7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Read the program from the outside in: definition → loop → condition → call.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8FC77-0485-441E-BCB7-F357E3FE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E862D-B477-47DC-A8F4-61EB9220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E583C-A6EB-4A5D-AB42-7F74233B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477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1E9AE-8A68-4C31-98BC-4795BD56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613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ONE LEGAL PROGRAM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5C218-4C12-4016-9298-9366190E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61341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def total_for(order):</a:t>
            </a:r>
          </a:p>
          <a:p xmlns:a="http://schemas.openxmlformats.org/drawingml/2006/main">
            <a:pPr algn="l">
              <a:def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total = 0</a:t>
            </a:r>
          </a:p>
          <a:p xmlns:a="http://schemas.openxmlformats.org/drawingml/2006/main">
            <a:pPr algn="l">
              <a:def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for item in order:</a:t>
            </a:r>
          </a:p>
          <a:p xmlns:a="http://schemas.openxmlformats.org/drawingml/2006/main">
            <a:pPr algn="l">
              <a:def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if item["in_stock"]:</a:t>
            </a:r>
          </a:p>
          <a:p xmlns:a="http://schemas.openxmlformats.org/drawingml/2006/main">
            <a:pPr algn="l">
              <a:def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        total += item["price"]</a:t>
            </a:r>
          </a:p>
          <a:p xmlns:a="http://schemas.openxmlformats.org/drawingml/2006/main">
            <a:pPr algn="l">
              <a:def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    return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order = [{"price": 12, "in_stock": True}]</a:t>
            </a:r>
          </a:p>
          <a:p xmlns:a="http://schemas.openxmlformats.org/drawingml/2006/main">
            <a:pPr algn="l">
              <a:def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print(total_for(order))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96597-3189-47A3-9F8D-134ACC42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8C9"/>
          </a:solidFill>
          <a:ln xmlns:a="http://schemas.openxmlformats.org/drawingml/2006/main" w="0">
            <a:solidFill>
              <a:srgbClr val="2388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66E0A-B2D3-4EF7-9272-B84E84AC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1  def + suite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B0FDE-849D-4A43-A47E-824CA7B1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A function definition creates a scope.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5569E-40C8-4F2D-8911-F1E56B2D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2"/>
          </a:solidFill>
          <a:ln xmlns:a="http://schemas.openxmlformats.org/drawingml/2006/main" w="0">
            <a:solidFill>
              <a:srgbClr val="1D8B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E53B9-4E0C-499D-AA61-AFFE2C3A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2  for + suite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F0B24-AE8D-4A13-80B3-A690D947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loop binds item on each pass.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0CFF7-6106-44D2-8E6B-E5E3ADF1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62375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81C"/>
          </a:solidFill>
          <a:ln xmlns:a="http://schemas.openxmlformats.org/drawingml/2006/main" w="0">
            <a:solidFill>
              <a:srgbClr val="C878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BE504-EF30-49C6-AA78-B4EB4670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62375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3  if + suite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5D52E-B6BB-4F5C-AF60-D5A21F55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671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condition guards the update.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AB2B7-721B-439C-BE02-852B571B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2A3"/>
          </a:solidFill>
          <a:ln xmlns:a="http://schemas.openxmlformats.org/drawingml/2006/main" w="0">
            <a:solidFill>
              <a:srgbClr val="7752A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D629BC-548C-471D-9F6B-30F83158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672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4  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8D2F94-EE31-4A24-AC61-0ECB0A7F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720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6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 final line evaluates a primary expression.</a:t>
            </a:r>
          </a:p>
        </p:txBody>
      </p:sp>
    </p:spTree>
    <p:extLst>
      <p:ext uri="{BB962C8B-B14F-4D97-AF65-F5344CB8AC3E}">
        <p14:creationId xmlns:p14="http://schemas.microsoft.com/office/powerpoint/2010/main" val="151507309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1151B-F727-4AD4-99B2-E52C2251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388C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388C9"/>
                </a:solidFill>
                <a:latin typeface="Arial"/>
                <a:ea typeface="Arial"/>
                <a:cs typeface="Arial"/>
              </a:rPr>
              <a:t>THE CORE READING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C0B01-6D02-4392-9323-659149FD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Read outer structure first.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F377B-D13D-449B-9444-965D532B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Then read the expressions inside it.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704850" y="3905250"/>
            <a:ext cx="4476750" cy="953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388C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57F81-05E9-44E8-9738-0697FF62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 i="0">
                <a:solidFill>
                  <a:srgbClr val="145B89"/>
                </a:solidFill>
                <a:latin typeface="Courier New"/>
                <a:ea typeface="Courier New"/>
                <a:cs typeface="Courier New"/>
              </a:rPr>
              <a:t>header → colon → indentation → expressions →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C3205-4290-4483-A672-DE134CC6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Practice by explaining every symbol in a line before you run it.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647700" y="6381750"/>
            <a:ext cx="10896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C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E9863-A1AF-4A9D-AB48-99736510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ECF6E-934F-4B7A-8B6B-F6EF47CB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B6474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640475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2026-08-14T00:15:35.8540000Z</dcterms:created>
  <dcterms:modified xsi:type="dcterms:W3CDTF">2026-08-14T00:15:35.8540000Z</dcterms:modified>
</coreProperties>
</file>